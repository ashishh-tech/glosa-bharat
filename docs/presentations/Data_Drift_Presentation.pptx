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28600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4884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 i="0">
                <a:solidFill>
                  <a:srgbClr val="00C9A7"/>
                </a:solidFill>
                <a:latin typeface="Calibri"/>
              </a:defRPr>
            </a:pPr>
            <a:r>
              <a:t>SMART HIGHWAY TRAFFIC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1">
                <a:solidFill>
                  <a:srgbClr val="FFFFFF"/>
                </a:solidFill>
                <a:latin typeface="Calibri"/>
              </a:defRPr>
            </a:pPr>
            <a:r>
              <a:t>Data-Driven Insights for Emission Reduction &amp; Congestion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0">
                <a:solidFill>
                  <a:srgbClr val="8B949E"/>
                </a:solidFill>
                <a:latin typeface="Calibri"/>
              </a:defRPr>
            </a:pPr>
            <a:r>
              <a:t>SRIJAN '26  |  DATA DRIFT  |  Department of Construction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029200"/>
            <a:ext cx="12191695" cy="731520"/>
          </a:xfrm>
          <a:prstGeom prst="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00C9A7"/>
                </a:solidFill>
                <a:latin typeface="Calibri"/>
              </a:defRPr>
            </a:pPr>
            <a:r>
              <a:t>4,012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Clean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50749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00C9A7"/>
                </a:solidFill>
                <a:latin typeface="Calibri"/>
              </a:defRPr>
            </a:pPr>
            <a:r>
              <a:t>108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3949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Duplicates Removed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50749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00C9A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53949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Road Segments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0749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00C9A7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53949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Features Analyzed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50749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00C9A7"/>
                </a:solidFill>
                <a:latin typeface="Calibri"/>
              </a:defRPr>
            </a:pPr>
            <a:r>
              <a:t>Jan-Mar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539496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Dataset Period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00C9A7"/>
                </a:solidFill>
                <a:latin typeface="Calibri"/>
              </a:defRPr>
            </a:pPr>
            <a:r>
              <a:t>DATA CLEANING  |  FEATURE ENGINEERING  |  KPIs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777240"/>
            <a:ext cx="214884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77240"/>
            <a:ext cx="2148840" cy="54864"/>
          </a:xfrm>
          <a:prstGeom prst="rect">
            <a:avLst/>
          </a:prstGeom>
          <a:solidFill>
            <a:srgbClr val="3D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86968"/>
            <a:ext cx="1965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 i="0">
                <a:solidFill>
                  <a:srgbClr val="8B949E"/>
                </a:solidFill>
                <a:latin typeface="Calibri"/>
              </a:defRPr>
            </a:pPr>
            <a:r>
              <a:t>TOTAL VEHICLES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1965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3D6EFF"/>
                </a:solidFill>
                <a:latin typeface="Calibri"/>
              </a:defRPr>
            </a:pPr>
            <a:r>
              <a:t>6,948,364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35608"/>
            <a:ext cx="1965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1">
                <a:solidFill>
                  <a:srgbClr val="8B949E"/>
                </a:solidFill>
                <a:latin typeface="Calibri"/>
              </a:defRPr>
            </a:pPr>
            <a:r>
              <a:t>across 4,012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39" y="777240"/>
            <a:ext cx="214884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6039" y="777240"/>
            <a:ext cx="2148840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79" y="886968"/>
            <a:ext cx="1965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 i="0">
                <a:solidFill>
                  <a:srgbClr val="8B949E"/>
                </a:solidFill>
                <a:latin typeface="Calibri"/>
              </a:defRPr>
            </a:pPr>
            <a:r>
              <a:t>AVG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1097280"/>
            <a:ext cx="1965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00C9A7"/>
                </a:solidFill>
                <a:latin typeface="Calibri"/>
              </a:defRPr>
            </a:pPr>
            <a:r>
              <a:t>59.72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1435608"/>
            <a:ext cx="1965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1">
                <a:solidFill>
                  <a:srgbClr val="8B949E"/>
                </a:solidFill>
                <a:latin typeface="Calibri"/>
              </a:defRPr>
            </a:pPr>
            <a:r>
              <a:t>kmph all segments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59" y="777240"/>
            <a:ext cx="214884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59" y="777240"/>
            <a:ext cx="21488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199" y="886968"/>
            <a:ext cx="1965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 i="0">
                <a:solidFill>
                  <a:srgbClr val="8B949E"/>
                </a:solidFill>
                <a:latin typeface="Calibri"/>
              </a:defRPr>
            </a:pPr>
            <a:r>
              <a:t>AVG CO2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199" y="1097280"/>
            <a:ext cx="1965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FF6B6B"/>
                </a:solidFill>
                <a:latin typeface="Calibri"/>
              </a:defRPr>
            </a:pPr>
            <a:r>
              <a:t>249.08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199" y="1435608"/>
            <a:ext cx="1965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1">
                <a:solidFill>
                  <a:srgbClr val="8B949E"/>
                </a:solidFill>
                <a:latin typeface="Calibri"/>
              </a:defRPr>
            </a:pPr>
            <a:r>
              <a:t>emission units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79" y="777240"/>
            <a:ext cx="214884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9479" y="777240"/>
            <a:ext cx="2148840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19" y="886968"/>
            <a:ext cx="1965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 i="0">
                <a:solidFill>
                  <a:srgbClr val="8B949E"/>
                </a:solidFill>
                <a:latin typeface="Calibri"/>
              </a:defRPr>
            </a:pPr>
            <a:r>
              <a:t>EMISSION/VEHICLE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19" y="1097280"/>
            <a:ext cx="1965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FFD166"/>
                </a:solidFill>
                <a:latin typeface="Calibri"/>
              </a:defRPr>
            </a:pPr>
            <a:r>
              <a:t>0.2063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19" y="1435608"/>
            <a:ext cx="1965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1">
                <a:solidFill>
                  <a:srgbClr val="8B949E"/>
                </a:solidFill>
                <a:latin typeface="Calibri"/>
              </a:defRPr>
            </a:pPr>
            <a:r>
              <a:t>CO2 ratio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777240"/>
            <a:ext cx="2148840" cy="9144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01200" y="777240"/>
            <a:ext cx="2148840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886968"/>
            <a:ext cx="19659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1" i="0">
                <a:solidFill>
                  <a:srgbClr val="8B949E"/>
                </a:solidFill>
                <a:latin typeface="Calibri"/>
              </a:defRPr>
            </a:pPr>
            <a:r>
              <a:t>AVG TEI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1097280"/>
            <a:ext cx="1965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C084FC"/>
                </a:solidFill>
                <a:latin typeface="Calibri"/>
              </a:defRPr>
            </a:pPr>
            <a:r>
              <a:t>1.337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435608"/>
            <a:ext cx="1965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 i="1">
                <a:solidFill>
                  <a:srgbClr val="8B949E"/>
                </a:solidFill>
                <a:latin typeface="Calibri"/>
              </a:defRPr>
            </a:pPr>
            <a:r>
              <a:t>efficiency index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1920240"/>
            <a:ext cx="3657600" cy="320040"/>
          </a:xfrm>
          <a:prstGeom prst="rect">
            <a:avLst/>
          </a:prstGeom>
          <a:solidFill>
            <a:srgbClr val="3D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1947672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DATA CLEANING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2240280"/>
            <a:ext cx="3657600" cy="19659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4048" y="2286000"/>
            <a:ext cx="3438144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1. Removed 108 exact duplicate rows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 (4,120 raw -&gt; 4,012 clean records)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2. Handled Blank/Unknown Entries: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 'unknown' in vehicles -&gt; segment median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 Missing speed/density -&gt; segment-wise mean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 Missing CO2 -&gt; congestion-level mean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3. Verified Spelling Consistency: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 7 day names: all correct (Title Case)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 3 congestion levels: Low/Medium/High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1920240"/>
            <a:ext cx="3657600" cy="32004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0" y="1947672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40" y="2240280"/>
            <a:ext cx="3657600" cy="19659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15968" y="2286000"/>
            <a:ext cx="3438144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1. Extracted 'hour' from timestamp: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 Formula: =HOUR(timestamp)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 Range: 0 to 23 (all 24 hours present)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2. Created 'Traffic Efficiency Index':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 Formula: TEI = Avg Speed / Traffic Density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 Higher TEI = Better road performance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 Range: 0.067 to 11.24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3. Created 'Rain Category' bins: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 Dry | Light (1-10) | Moderate (11-25) | Heavy (&gt;25)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1920240"/>
            <a:ext cx="3749039" cy="3200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1947672"/>
            <a:ext cx="356615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ADDITIONAL KPIs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2240280"/>
            <a:ext cx="3749039" cy="19659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7888" y="2286000"/>
            <a:ext cx="3529583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FF8C42"/>
                </a:solidFill>
                <a:latin typeface="Calibri"/>
              </a:defRPr>
            </a:pPr>
            <a:r>
              <a:t>Total NOx Emissions:    3,094.23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8C42"/>
                </a:solidFill>
                <a:latin typeface="Calibri"/>
              </a:defRPr>
            </a:pPr>
            <a:r>
              <a:t>Total PM2.5:            407.27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Congestion Distribution: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t>  Medium: 1,515 rows (37.8%)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t>  High:   1,289 rows (32.1%)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  Low:    1,208 rows (30.1%)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Peak Traffic Hour:  18:00 (6 PM)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Vehicles: 327,645 in that hour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Busiest Day: Saturday (10,35,948)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4389120"/>
            <a:ext cx="11612880" cy="6400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434840"/>
            <a:ext cx="112471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 i="1">
                <a:solidFill>
                  <a:srgbClr val="8B949E"/>
                </a:solidFill>
                <a:latin typeface="Calibri"/>
              </a:defRPr>
            </a:pPr>
            <a:r>
              <a:t>IMPUTATION LOGIC:  'unknown' vehicles filled with median of SAME road segment (not global avg) to preserve segment-specific traffic patterns.  CO2 blanks filled using mean of SAME congestion level.  Speed/density blanks filled with segment-wise mean.  Median used for vehicles to resist outlier influence.  This ensures each segment's unique traffic profile remains intact.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00C9A7"/>
                </a:solidFill>
                <a:latin typeface="Calibri"/>
              </a:defRPr>
            </a:pPr>
            <a:r>
              <a:t>CORE DATA ANALYSIS  |  6 out of 8 Tasks Completed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3657600" cy="320040"/>
          </a:xfrm>
          <a:prstGeom prst="rect">
            <a:avLst/>
          </a:prstGeom>
          <a:solidFill>
            <a:srgbClr val="3D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A1: PEAK TRAFFIC HOURS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3657600" cy="24231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143000"/>
            <a:ext cx="3438144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Peak Hour: 18:00 (6 PM)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327,645 vehicles recorded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Top 5 Hours: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  18:00 - 327,645 vehicles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  20:00 - 324,076 vehicles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  22:00 - 313,485 vehicles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   6:00 - 311,098 vehicles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   2:00 - 307,816 vehicles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t>Evening peak (18:00-22:00) dominates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777240"/>
            <a:ext cx="3657600" cy="32004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804672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A2: SPEED BY ROAD SEGMENT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097280"/>
            <a:ext cx="3657600" cy="24231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143000"/>
            <a:ext cx="3438144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t>SLOWEST: Segment A1 (57.46 kmph)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FASTEST: Segment D2 (65.39 kmph)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Full Ranking (slow -&gt; fast):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  A1: 57.46  |  C1: 57.62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  A2: 57.73  |  B2: 58.28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  C2: 59.51  |  B1: 60.53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  D1: 63.84  |  D2: 65.39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t>Speed gap: 7.93 kmph between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t>slowest and fastest segments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777240"/>
            <a:ext cx="3749039" cy="3200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804672"/>
            <a:ext cx="356615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A3: CONGESTION-PRONE ZONES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097280"/>
            <a:ext cx="3749039" cy="24231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143000"/>
            <a:ext cx="3529583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t>MOST CONGESTED: Segment D1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Avg Density: 71.54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Traffic Density Ranking: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t>  D1: 71.54 (HIGHEST)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  C1: 68.78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  D2: 68.30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  A1: 66.74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  C2: 66.53  |  B1: 66.38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  A2: 63.50  |  B2: 63.08 (LOWEST)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3657600" cy="3200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776471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A4: CO2 vs CONGESTION LEVEL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069079"/>
            <a:ext cx="3657600" cy="16916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4114799"/>
            <a:ext cx="3438144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t>High Congestion:   266.86 avg CO2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t>Medium Congestion: 252.34 avg CO2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Low Congestion:    226.01 avg CO2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FF8C42"/>
                </a:solidFill>
                <a:latin typeface="Calibri"/>
              </a:defRPr>
            </a:pPr>
            <a:r>
              <a:t>18% more CO2 during High vs Low congestion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Reducing congestion = directly reducing emissions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749039"/>
            <a:ext cx="3657600" cy="3200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3776471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A5: RAINFALL vs AVG SPEED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4069079"/>
            <a:ext cx="3657600" cy="16916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5968" y="4114799"/>
            <a:ext cx="3438144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Dry (0mm):         59.36 kmph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Light (1-10mm):    59.71 kmph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Moderate (11-25):  59.27 kmph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Heavy (&gt;25mm):     61.39 kmph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t>INSIGHT: Rain alone does NOT significantly affect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t>speed. Density &amp; congestion are dominant factors.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749039"/>
            <a:ext cx="3749039" cy="3200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776471"/>
            <a:ext cx="356615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A6: TOP 5 EMISSION HOTSPOTS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4069079"/>
            <a:ext cx="3749039" cy="16916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4114799"/>
            <a:ext cx="3529583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t>#1 (58,4)  -&gt; CO2: 586.42 | Seg A1 | High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8C42"/>
                </a:solidFill>
                <a:latin typeface="Calibri"/>
              </a:defRPr>
            </a:pPr>
            <a:r>
              <a:t>#2 (36,14) -&gt; CO2: 544.45 | Seg A1 | Med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t>#3 (4,79)  -&gt; CO2: 526.99 | Seg B1 | High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t>#4 (89,4)  -&gt; CO2: 516.75 | Seg C1 | High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t>#5 (19,9)  -&gt; CO2: 513.68 | Seg A2 | Low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FF8C42"/>
                </a:solidFill>
                <a:latin typeface="Calibri"/>
              </a:defRPr>
            </a:pPr>
            <a:r>
              <a:t>Segment A1 appears twice in top 5!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5989320"/>
            <a:ext cx="12191695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080760"/>
            <a:ext cx="1161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 i="1">
                <a:solidFill>
                  <a:srgbClr val="8B949E"/>
                </a:solidFill>
                <a:latin typeface="Calibri"/>
              </a:defRPr>
            </a:pPr>
            <a:r>
              <a:t>Congestion grouping compared across speed &amp; emissions | Hour extracted from timestamp | Traffic Efficiency Index = Speed / Density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00C9A7"/>
                </a:solidFill>
                <a:latin typeface="Calibri"/>
              </a:defRPr>
            </a:pPr>
            <a:r>
              <a:t>ADVANCED ANALYSIS  |  3 out of 5 Tasks  +  BONUS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3657600" cy="3200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ADV1: GORE POINT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3657600" cy="24231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143000"/>
            <a:ext cx="3438144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            Non-Gore   Gore Point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Avg Speed:     58.41      61.42 kmph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Avg CO2:      244.09     255.60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Avg Density:   64.59      69.22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t>FINDING: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Gore point zones have 3 kmph HIGHER speed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despite higher density (69 vs 64).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This suggests gore points are on wider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highway sections with better flow capacity.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777240"/>
            <a:ext cx="3657600" cy="3200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804672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ADV2: EV ADOPTION -&gt; CO2 REDUCTION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097280"/>
            <a:ext cx="3657600" cy="24231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143000"/>
            <a:ext cx="3438144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Current fleet avg EV: 33.9%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Current avg CO2:     249.08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t>SCENARIO SIMULATION: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  25% EV -&gt; CO2: 196.1 (-21.3%)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  50% EV -&gt; CO2: 143.2 (-42.5%)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  75% EV -&gt; CO2:  90.3 (-63.7%)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  100% EV-&gt; CO2:  37.4 (-85.0%)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FF8C42"/>
                </a:solidFill>
                <a:latin typeface="Calibri"/>
              </a:defRPr>
            </a:pPr>
            <a:r>
              <a:t>50% EV adoption alone cuts CO2 by 42.5%!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777240"/>
            <a:ext cx="3749039" cy="32004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804672"/>
            <a:ext cx="356615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ADV3: SEGMENT TEI RANKING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097280"/>
            <a:ext cx="3749039" cy="242316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143000"/>
            <a:ext cx="3529583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TEI = Speed / Density (higher = better)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t>RANKING: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  #1 D2:  TEI = 1.3900 (BEST)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  #2 A2:  TEI = 1.3824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  #3 B1:  TEI = 1.3780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  #4 C2:  TEI = 1.3627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  #5 B2:  TEI = 1.3401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  <a:r>
              <a:t>  #6 D1:  TEI = 1.3306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8C42"/>
                </a:solidFill>
                <a:latin typeface="Calibri"/>
              </a:defRPr>
            </a:pPr>
            <a:r>
              <a:t>  #7 A1:  TEI = 1.2789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t>  #8 C1:  TEI = 1.2395 (WORST)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49039"/>
            <a:ext cx="5669280" cy="320040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776471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BONUS: ADDITIONAL INSIGHTS (New Findings)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4069079"/>
            <a:ext cx="5669280" cy="16916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4114799"/>
            <a:ext cx="5449824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1. Saturday has highest traffic (10,35,948 vehicles)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 Wednesday lowest (9,31,007) - 11% gap between busiest &amp; quietest day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t>2. Segment A1 is BOTH slowest AND has most emission hotspots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 -&gt; Priority target for infrastructure intervention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t>3. Rainfall has NO significant impact on avg speed (&lt;2 kmph diff)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 -&gt; Traffic density, not weather, is the primary speed determinant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49039"/>
            <a:ext cx="5669280" cy="3200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776471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SEGMENT EFFICIENCY ANALYSIS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069079"/>
            <a:ext cx="5669280" cy="169164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4114799"/>
            <a:ext cx="5449824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t>C1 is least efficient (TEI 1.24) despite having 2nd highest density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-&gt; Needs signal optimization &amp; lane restructuring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D2 is most efficient (TEI 1.39) with above-avg density (68.3)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-&gt; Study D2's configuration as MODEL for other segments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t>Gore zones show higher throughput (+3 kmph) despite more vehicles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-&gt; Proves merge management infrastructure works at scale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00C9A7"/>
                </a:solidFill>
                <a:latin typeface="Calibri"/>
              </a:defRPr>
            </a:pPr>
            <a:r>
              <a:t>CONCLUSIONS  |  POLICY RECOMMENDATIONS  |  ACTION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5669280" cy="320040"/>
          </a:xfrm>
          <a:prstGeom prst="rect">
            <a:avLst/>
          </a:prstGeom>
          <a:solidFill>
            <a:srgbClr val="3D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0467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KEY CONCLUSIONS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97280"/>
            <a:ext cx="5669280" cy="22402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143000"/>
            <a:ext cx="5449824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1. Peak congestion occurs at 18:00 (6 PM), evening rush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 327,645 vehicles — need adaptive signal deployment at this hour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FF6B6B"/>
                </a:solidFill>
                <a:latin typeface="Calibri"/>
              </a:defRPr>
            </a:pPr>
            <a:r>
              <a:t>2. Segment A1 is the worst-performing road section: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 -&gt; Slowest speed (57.46 kmph)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 -&gt; 2 of top 5 emission hotspots are on A1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 -&gt; TEI rank: 7th out of 8 (second worst)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FF8C42"/>
                </a:solidFill>
                <a:latin typeface="Calibri"/>
              </a:defRPr>
            </a:pPr>
            <a:r>
              <a:t>3. High congestion causes 18% more CO2 than Low congestion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 Direct link: reducing congestion = reducing pollution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4. 50% EV adoption can cut total CO2 by 42.5%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777240"/>
            <a:ext cx="5669280" cy="3200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80467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POLICY RECOMMENDATIONS FOR TRAFFIC 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669280" cy="224028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143000"/>
            <a:ext cx="5449824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t>IMMEDIATE (0-6 months):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  Deploy adaptive signals on A1, C1 at peak hours (18-22h)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  Install real-time density sensors on D1 (most congested)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SHORT-TERM (6-18 months):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  Mandate EV incentives (target 50% adoption for 42.5% CO2 cut)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  Add lanes / restructure C1 (worst TEI = 1.24)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  Replicate D2 config (best TEI = 1.39) across weak segments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C084FC"/>
                </a:solidFill>
                <a:latin typeface="Calibri"/>
              </a:defRPr>
            </a:pPr>
            <a:r>
              <a:t>LONG-TERM (18+ months):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  Sensor-based merge management at all gore-point zones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  Weather-adaptive speed advisories (automated system)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566160"/>
            <a:ext cx="11612880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749039"/>
            <a:ext cx="3657600" cy="32004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776471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PROJECTED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069079"/>
            <a:ext cx="3657600" cy="1600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114799"/>
            <a:ext cx="3438144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FFD166"/>
                </a:solidFill>
                <a:latin typeface="Calibri"/>
              </a:defRPr>
            </a:pPr>
            <a:r>
              <a:t>If ALL recommendations implemented: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  CO2 Reduction:    ~42-50%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  Speed Improvement: ~8-12 kmph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  Congestion Drop:   ~25-35%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  NOx Reduction:     ~30-40%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749039"/>
            <a:ext cx="3657600" cy="32004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3776471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METHODOLOGY SUMMARY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4069079"/>
            <a:ext cx="3657600" cy="1600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15968" y="4114799"/>
            <a:ext cx="3438144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Tool:  Microsoft Excel (primary)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Data:  4,012 clean records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Cleaning: Dedup + Imputation + Validation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Features: hour, TEI, rain_bin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Analyses: 6 core + 3 advanced + 3 bonus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Dashboard: 8 charts, 13 KPIs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3749039"/>
            <a:ext cx="3749039" cy="32004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776471"/>
            <a:ext cx="3566159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4069079"/>
            <a:ext cx="3749039" cy="160020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7888" y="4114799"/>
            <a:ext cx="3529583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200"/>
              </a:spcAft>
              <a:defRPr sz="900" b="0" i="0">
                <a:solidFill>
                  <a:srgbClr val="00C9A7"/>
                </a:solidFill>
                <a:latin typeface="Calibri"/>
              </a:defRPr>
            </a:pPr>
            <a:r>
              <a:t>SRIJAN '26 - DATA DRIFT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Smart highway analysis completed with: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Full data cleaning &amp; validation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6/8 core + 3/5 advanced analyses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13 KPIs + 8-chart dashboard</a:t>
            </a:r>
          </a:p>
          <a:p>
            <a:pPr algn="l">
              <a:spcAft>
                <a:spcPts val="200"/>
              </a:spcAft>
              <a:defRPr sz="900" b="0" i="0">
                <a:solidFill>
                  <a:srgbClr val="8B949E"/>
                </a:solidFill>
                <a:latin typeface="Calibri"/>
              </a:defRPr>
            </a:pPr>
            <a:r>
              <a:t>  Actionable policy recommendations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