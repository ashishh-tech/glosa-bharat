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2860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00C9A7"/>
                </a:solidFill>
                <a:latin typeface="Calibri"/>
              </a:defRPr>
            </a:pPr>
            <a:r>
              <a:t>SMART HIGHWAY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Data-Driven Insights for Emission Reduction &amp; Congestion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SRIJAN '26  |  DATA DRIFT  |  Department of Construction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0"/>
            <a:ext cx="12191695" cy="7315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4,012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Clean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Duplicates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Road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Features Analyzed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Jan-Mar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Dataset Period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rPr sz="2400"/>
              <a:t>DATA CLEANING  |  FEATURE ENGINEERING  | 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274320" y="974669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274320" y="974669"/>
            <a:ext cx="2148840" cy="54864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365760" y="1084397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000"/>
              <a:t>TOTAL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94709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3D6EFF"/>
                </a:solidFill>
                <a:latin typeface="Calibri"/>
              </a:defRPr>
            </a:pPr>
            <a:r>
              <a:rPr sz="2800"/>
              <a:t>6,948,364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85397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000" dirty="0"/>
              <a:t>across 4,012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974669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2606039" y="974669"/>
            <a:ext cx="214884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2697479" y="1084397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000"/>
              <a:t>AVG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1294709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00C9A7"/>
                </a:solidFill>
                <a:latin typeface="Calibri"/>
              </a:defRPr>
            </a:pPr>
            <a:r>
              <a:rPr sz="2800"/>
              <a:t>59.72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1673560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000" dirty="0"/>
              <a:t>kmph all segments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974669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ectangle 15"/>
          <p:cNvSpPr/>
          <p:nvPr/>
        </p:nvSpPr>
        <p:spPr>
          <a:xfrm>
            <a:off x="4937759" y="974669"/>
            <a:ext cx="21488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5029199" y="1084397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000"/>
              <a:t>AVG CO2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1294709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6B6B"/>
                </a:solidFill>
                <a:latin typeface="Calibri"/>
              </a:defRPr>
            </a:pPr>
            <a:r>
              <a:rPr sz="2800"/>
              <a:t>249.08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1663167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000" dirty="0"/>
              <a:t>emission units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79" y="974669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7269479" y="974669"/>
            <a:ext cx="214884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7360919" y="1084397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000"/>
              <a:t>EMISSION/VEHICLE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1294709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D166"/>
                </a:solidFill>
                <a:latin typeface="Calibri"/>
              </a:defRPr>
            </a:pPr>
            <a:r>
              <a:rPr sz="2800"/>
              <a:t>0.2063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706189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000"/>
              <a:t>CO2 ratio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974669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ectangle 25"/>
          <p:cNvSpPr/>
          <p:nvPr/>
        </p:nvSpPr>
        <p:spPr>
          <a:xfrm>
            <a:off x="9601200" y="974669"/>
            <a:ext cx="2148840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9692640" y="1084397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000"/>
              <a:t>AVG TEI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294709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C084FC"/>
                </a:solidFill>
                <a:latin typeface="Calibri"/>
              </a:defRPr>
            </a:pPr>
            <a:r>
              <a:rPr sz="2800"/>
              <a:t>1.337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685401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000" dirty="0"/>
              <a:t>efficiency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33307"/>
            <a:ext cx="3657600" cy="320040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365760" y="2560739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100"/>
              <a:t>DATA CLEANING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010866"/>
            <a:ext cx="3657600" cy="2174197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384048" y="3106879"/>
            <a:ext cx="3438144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050" dirty="0"/>
              <a:t>1. Removed 108 exact duplicate rows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 dirty="0"/>
              <a:t>   (4,120 raw -&gt; 4,012 clean records)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050" dirty="0"/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050" dirty="0"/>
              <a:t>2. Handled Blank/Unknown Entries: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 dirty="0"/>
              <a:t>   'unknown' in vehicles -&gt; segment median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 dirty="0"/>
              <a:t>   Missing speed/density -&gt; segment-wise mean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 dirty="0"/>
              <a:t>   Missing CO2 -&gt; congestion-level mean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050" dirty="0"/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050" dirty="0"/>
              <a:t>3. Verified Spelling Consistency: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 dirty="0"/>
              <a:t>   7 day names: all correct (Title Case)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 dirty="0"/>
              <a:t>   3 congestion levels: Low/Medium/High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2533307"/>
            <a:ext cx="3657600" cy="3200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4297680" y="2560739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100"/>
              <a:t>FEATURE ENGINEERING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3061159"/>
            <a:ext cx="3657600" cy="212390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4315968" y="3106879"/>
            <a:ext cx="3438144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050"/>
              <a:t>1. Extracted 'hour' from timestamp: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/>
              <a:t>   Formula: =HOUR(timestamp)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/>
              <a:t>   Range: 0 to 23 (all 24 hours present)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050"/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050"/>
              <a:t>2. Created 'Traffic Efficiency Index':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/>
              <a:t>   Formula: TEI = Avg Speed / Traffic Density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/>
              <a:t>   Higher TEI = Better road performance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/>
              <a:t>   Range: 0.067 to 11.24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050"/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050"/>
              <a:t>3. Created 'Rain Category' bins: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/>
              <a:t>   Dry | Light (1-10) | Moderate (11-25) | Heavy (&gt;25)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533307"/>
            <a:ext cx="3749039" cy="3200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9" name="TextBox 38"/>
          <p:cNvSpPr txBox="1"/>
          <p:nvPr/>
        </p:nvSpPr>
        <p:spPr>
          <a:xfrm>
            <a:off x="8229600" y="2560739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100"/>
              <a:t>ADDITIONAL KPIs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3061159"/>
            <a:ext cx="3749039" cy="212390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8247888" y="3106879"/>
            <a:ext cx="3529583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050" dirty="0"/>
              <a:t>Total NOx Emissions:    3,094.23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050" dirty="0"/>
              <a:t>Total PM2.5:            407.27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050" dirty="0"/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050" dirty="0"/>
              <a:t>Congestion Distribution: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050" dirty="0"/>
              <a:t>  Medium: 1,515 rows (37.8%)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050" dirty="0"/>
              <a:t>  High:   1,289 rows (32.1%)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050" dirty="0"/>
              <a:t>  Low:    1,208 rows (30.1%)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050" dirty="0"/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050" dirty="0"/>
              <a:t>Peak Traffic Hour:  18:00 (6 PM)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050" dirty="0"/>
              <a:t>  Vehicles: 327,645 in that hour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050" dirty="0"/>
              <a:t>Busiest Day: Saturday (10,35,948)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885414"/>
            <a:ext cx="11612880" cy="6400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457200" y="5931134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1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IMPUTATION LOGIC:  'unknown' vehicles filled with median of SAME road segment (not global avg) to preserve segment-specific traffic patterns.  CO2 blanks filled using mean of SAME congestion level.  Speed/density blanks filled with segment-wise mean.  Median used for vehicles to resist outlier influence.  This ensures each segment's unique traffic profile remains intact.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1074420" y="-54864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rPr sz="3600" dirty="0"/>
              <a:t>CORE DATA ANALYSIS  |  6 out of 8 Tasks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2405"/>
            <a:ext cx="12191695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3657600" cy="320040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A1: PEAK TRAFFIC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3657600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384048" y="1143000"/>
            <a:ext cx="343814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Peak Hour: 18:00 (6 PM)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/>
              <a:t>  327,645 vehicles recorded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Top 5 Hours: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18:00 - 327,645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20:00 - 324,076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22:00 - 313,485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 6:00 - 311,098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 2:00 - 307,816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Evening peak (18:00-22:00) dominates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777240"/>
            <a:ext cx="3657600" cy="32004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297680" y="804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A2: SPEED BY ROAD SEGMENT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3657600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4315968" y="1143000"/>
            <a:ext cx="343814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/>
              <a:t>SLOWEST: Segment A1 (57.46 kmph)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FASTEST: Segment D2 (65.39 kmph)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Full Ranking (slow -&gt; fast):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A1: 57.46  |  C1: 57.62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A2: 57.73  |  B2: 58.28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C2: 59.51  |  B1: 60.53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D1: 63.84  |  D2: 65.39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Speed gap: 7.93 kmph between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slowest and fastest 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777240"/>
            <a:ext cx="3749039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8229600" y="804672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A3: CONGESTION-PRONE ZONES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97280"/>
            <a:ext cx="3749039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8247888" y="1143000"/>
            <a:ext cx="3529583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/>
              <a:t>MOST CONGESTED: Segment D1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/>
              <a:t>  Avg Density: 71.54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Traffic Density Ranking: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/>
              <a:t>  D1: 71.54 (HIGHEST)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C1: 68.78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D2: 68.30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A1: 66.74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  C2: 66.53  |  B1: 66.38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  A2: 63.50  |  B2: 63.08 (LOWEST)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657600" cy="3200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365760" y="3776471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A4: CO2 vs CONGESTION 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069079"/>
            <a:ext cx="3657600" cy="1691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0" name="TextBox 19"/>
          <p:cNvSpPr txBox="1"/>
          <p:nvPr/>
        </p:nvSpPr>
        <p:spPr>
          <a:xfrm>
            <a:off x="384048" y="4114799"/>
            <a:ext cx="3438144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/>
              <a:t>High Congestion:   266.86 avg CO2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Medium Congestion: 252.34 avg CO2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Low Congestion:    226.01 avg CO2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200"/>
              <a:t>18% more CO2 during High vs Low congestion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/>
              <a:t>Reducing congestion = directly reducing emissions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657600" cy="3200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4297680" y="3776471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A5: RAINFALL vs AVG SPEED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069079"/>
            <a:ext cx="3657600" cy="1691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4" name="TextBox 23"/>
          <p:cNvSpPr txBox="1"/>
          <p:nvPr/>
        </p:nvSpPr>
        <p:spPr>
          <a:xfrm>
            <a:off x="4315968" y="4114799"/>
            <a:ext cx="3438144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Dry (0mm):         59.36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Light (1-10mm):    59.71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Moderate (11-25):  59.27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Heavy (&gt;25mm):     61.39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INSIGHT: Rain alone does NOT significantly affect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speed. Density &amp; congestion are dominant factors.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749039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8229600" y="3776471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A6: TOP 5 EMISSION HOTSPOTS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069079"/>
            <a:ext cx="3749039" cy="1691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8247888" y="4114799"/>
            <a:ext cx="3529583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/>
              <a:t>#1 (58,4)  -&gt; CO2: 586.42 | Seg A1 | High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200"/>
              <a:t>#2 (36,14) -&gt; CO2: 544.45 | Seg A1 | Med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/>
              <a:t>#3 (4,79)  -&gt; CO2: 526.99 | Seg B1 | High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/>
              <a:t>#4 (89,4)  -&gt; CO2: 516.75 | Seg C1 | High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#5 (19,9)  -&gt; CO2: 513.68 | Seg A2 | Low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200"/>
              <a:t>Segment A1 appears twice in top 5!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989320"/>
            <a:ext cx="12191695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TextBox 29"/>
          <p:cNvSpPr txBox="1"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1">
                <a:solidFill>
                  <a:srgbClr val="8B949E"/>
                </a:solidFill>
                <a:latin typeface="Calibri"/>
              </a:defRPr>
            </a:pPr>
            <a:r>
              <a:rPr sz="1100"/>
              <a:t>Congestion grouping compared across speed &amp; emissions | Hour extracted from timestamp | Traffic Efficiency Index = Speed / Density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ADVANCED ANALYSIS  |  3 out of 5 Tasks  +  BONUS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3657600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 dirty="0">
                <a:solidFill>
                  <a:srgbClr val="FF0000"/>
                </a:solidFill>
              </a:rPr>
              <a:t>ADV1: GORE POINT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1206175"/>
            <a:ext cx="3657600" cy="272200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2337" y="1341881"/>
            <a:ext cx="343814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/>
              <a:t>              Non-Gore   Gore Point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Avg Speed:     58.41      61.42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Avg CO2:      244.09     255.60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Avg Density:   64.59      69.22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FINDING: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Gore point zones have 3 kmph HIGHER speed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despite higher density (69 vs 64).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This suggests gore points are on wider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highway sections with better flow capacity.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777240"/>
            <a:ext cx="3657600" cy="3200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804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 dirty="0">
                <a:solidFill>
                  <a:srgbClr val="FF0000"/>
                </a:solidFill>
              </a:rPr>
              <a:t>ADV2: EV ADOPTION -&gt; CO2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242752"/>
            <a:ext cx="3657600" cy="27220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34257" y="1341881"/>
            <a:ext cx="343814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Current fleet avg EV: 33.9%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Current avg CO2:     249.08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 dirty="0"/>
              <a:t>SCENARIO SIMULATION: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  25% EV -&gt; CO2: 196.1 (-21.3%)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  50% EV -&gt; CO2: 143.2 (-42.5%)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  75% EV -&gt; CO2:  90.3 (-63.7%)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  100% EV-&gt; CO2:  37.4 (-85.0%)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200" dirty="0"/>
              <a:t>50% EV adoption alone cuts CO2 by 42.5%!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777240"/>
            <a:ext cx="3749039" cy="3200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0" y="804672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 dirty="0">
                <a:solidFill>
                  <a:srgbClr val="FF0000"/>
                </a:solidFill>
              </a:rPr>
              <a:t>ADV3: SEGMENT TEI RANKING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211578"/>
            <a:ext cx="3749039" cy="272200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7" y="1341881"/>
            <a:ext cx="3529583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TEI = Speed / Density (higher = better)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 dirty="0"/>
              <a:t>RANKING: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  #1 D2:  TEI = 1.3900 (BEST)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  #2 A2:  TEI = 1.3824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  #3 B1:  TEI = 1.3780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  #4 C2:  TEI = 1.3627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  #5 B2:  TEI = 1.3401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  #6 D1:  TEI = 1.3306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200" dirty="0"/>
              <a:t>  #7 A1:  TEI = 1.2789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 dirty="0"/>
              <a:t>  #8 C1:  TEI = 1.2395 (WORST)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89370"/>
            <a:ext cx="5669280" cy="3200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8" name="TextBox 17"/>
          <p:cNvSpPr txBox="1"/>
          <p:nvPr/>
        </p:nvSpPr>
        <p:spPr>
          <a:xfrm>
            <a:off x="365760" y="431680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300"/>
              <a:t>BONUS: ADDITIONAL INSIGHTS (New Findings)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609410"/>
            <a:ext cx="5669280" cy="198341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0" name="TextBox 19"/>
          <p:cNvSpPr txBox="1"/>
          <p:nvPr/>
        </p:nvSpPr>
        <p:spPr>
          <a:xfrm>
            <a:off x="384048" y="4655130"/>
            <a:ext cx="5449824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300"/>
              <a:t>1. Saturday has highest traffic (10,35,948 vehicles)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300"/>
              <a:t>   Wednesday lowest (9,31,007) - 11% gap between busiest &amp; quietest day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300"/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300"/>
              <a:t>2. Segment A1 is BOTH slowest AND has most emission hotspots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300"/>
              <a:t>   -&gt; Priority target for infrastructure intervention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30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300"/>
              <a:t>3. Rainfall has NO significant impact on avg speed (&lt;2 kmph diff)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300"/>
              <a:t>   -&gt; Traffic density, not weather, is the primary speed determinant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89370"/>
            <a:ext cx="5669280" cy="3200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2" name="TextBox 21"/>
          <p:cNvSpPr txBox="1"/>
          <p:nvPr/>
        </p:nvSpPr>
        <p:spPr>
          <a:xfrm>
            <a:off x="6309360" y="431680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300"/>
              <a:t>SEGMENT EFFICIENCY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609410"/>
            <a:ext cx="5669280" cy="198341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24" name="TextBox 23"/>
          <p:cNvSpPr txBox="1"/>
          <p:nvPr/>
        </p:nvSpPr>
        <p:spPr>
          <a:xfrm>
            <a:off x="6327648" y="4655130"/>
            <a:ext cx="5449824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300" dirty="0"/>
              <a:t>C1 is least efficient (TEI 1.24) despite having 2nd highest density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300" dirty="0"/>
              <a:t>-&gt; Needs signal optimization &amp; lane restructuring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300" dirty="0"/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300" dirty="0"/>
              <a:t>D2 is most efficient (TEI 1.39) with above-avg density (68.3)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300" dirty="0"/>
              <a:t>-&gt; Study D2's configuration as MODEL for other segments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300" dirty="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300" dirty="0"/>
              <a:t>Gore zones show higher throughput (+3 kmph) despite more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300" dirty="0"/>
              <a:t>-&gt; Proves merge management infrastructure works at scale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CONCLUSIONS  |  POLICY RECOMMENDATIONS  | 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0391"/>
            <a:ext cx="12191695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Rectangle 4"/>
          <p:cNvSpPr/>
          <p:nvPr/>
        </p:nvSpPr>
        <p:spPr>
          <a:xfrm>
            <a:off x="274320" y="1234444"/>
            <a:ext cx="5669280" cy="320040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0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KEY CONCLUSIONS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793476"/>
            <a:ext cx="5669280" cy="2561571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8" name="TextBox 7"/>
          <p:cNvSpPr txBox="1"/>
          <p:nvPr/>
        </p:nvSpPr>
        <p:spPr>
          <a:xfrm>
            <a:off x="581477" y="1808024"/>
            <a:ext cx="5449824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1. Peak congestion occurs at 18:00 (6 PM), evening rush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   327,645 vehicles — need adaptive signal deployment at this hour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rPr sz="1200" dirty="0"/>
              <a:t>2. Segment A1 is the worst-performing road section: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   -&gt; Slowest speed (57.46 kmph)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   -&gt; 2 of top 5 emission hotspots are on A1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   -&gt; TEI rank: 7th out of 8 (second worst)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200" dirty="0"/>
              <a:t>3. High congestion causes 18% more CO2 than Low congestion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   Direct link: reducing congestion = reducing pollution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4. 50% EV adoption can cut total CO2 by 42.5%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4"/>
            <a:ext cx="5669280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000"/>
          </a:p>
        </p:txBody>
      </p:sp>
      <p:sp>
        <p:nvSpPr>
          <p:cNvPr id="10" name="TextBox 9"/>
          <p:cNvSpPr txBox="1"/>
          <p:nvPr/>
        </p:nvSpPr>
        <p:spPr>
          <a:xfrm>
            <a:off x="6309360" y="126187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POLICY RECOMMENDATIONS FOR TRAFFIC 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93477"/>
            <a:ext cx="5669280" cy="256157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2" name="TextBox 11"/>
          <p:cNvSpPr txBox="1"/>
          <p:nvPr/>
        </p:nvSpPr>
        <p:spPr>
          <a:xfrm>
            <a:off x="6670551" y="1818415"/>
            <a:ext cx="5449824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 dirty="0"/>
              <a:t>IMMEDIATE (0-6 months):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  Deploy adaptive signals on A1, C1 at peak hours (18-22h)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  Install real-time density sensors on D1 (most congested)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SHORT-TERM (6-18 months):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  Mandate EV incentives (target 50% adoption for 42.5% CO2 cut)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  Add lanes / restructure C1 (worst TEI = 1.24)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  Replicate D2 config (best TEI = 1.39) across weak segments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C084FC"/>
                </a:solidFill>
                <a:latin typeface="Calibri"/>
              </a:defRPr>
            </a:pPr>
            <a:r>
              <a:rPr sz="1200" dirty="0"/>
              <a:t>LONG-TERM (18+ months):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  Sensor-based merge management at all gore-point zones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 dirty="0"/>
              <a:t>  Weather-adaptive speed advisories (automated system)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501350"/>
            <a:ext cx="1161288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274320" y="4684228"/>
            <a:ext cx="3657600" cy="3200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365760" y="47116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PROJECTED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004268"/>
            <a:ext cx="3657600" cy="1600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384048" y="5049988"/>
            <a:ext cx="3438144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/>
              <a:t>If ALL recommendations implemented: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  CO2 Reduction:    ~42-50%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  Speed Improvement: ~8-12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  Congestion Drop:   ~25-35%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  NOx Reduction:     ~30-40%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684228"/>
            <a:ext cx="3657600" cy="3200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4297680" y="47116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METHODOLOGY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004268"/>
            <a:ext cx="3657600" cy="1600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4315968" y="5049988"/>
            <a:ext cx="3438144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Tool:  Microsoft Excel (primary)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Data:  4,012 clean records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Cleaning: Dedup + Imputation + Validation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Features: hour, TEI, rain_bin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Analyses: 6 core + 3 advanced + 3 bonus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Dashboard: 8 charts, 13 KPIs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684228"/>
            <a:ext cx="3749039" cy="3200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8229600" y="4711660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THANK YOU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5004268"/>
            <a:ext cx="3749039" cy="1600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8247888" y="5049988"/>
            <a:ext cx="3529583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/>
              <a:t>SRIJAN '26 - DATA DRIFT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/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rPr sz="1200"/>
              <a:t>Smart highway analysis completed with: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/>
              <a:t>  Full data cleaning &amp; validation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/>
              <a:t>  6/8 core + 3/5 advanced analyses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/>
              <a:t>  13 KPIs + 8-chart dashboard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/>
              <a:t>  Actionable policy 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274319" y="109728"/>
            <a:ext cx="116586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E676"/>
                </a:solidFill>
                <a:latin typeface="Calibri"/>
              </a:defRPr>
            </a:pPr>
            <a:r>
              <a:rPr sz="2800" dirty="0"/>
              <a:t>BONUS: GLOSA-BHARAT DEPLOYMENT SIMULATION  |  The Ultimate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2743200" cy="8229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400"/>
              <a:t>TOTAL CO2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E676"/>
                </a:solidFill>
                <a:latin typeface="Calibri"/>
              </a:defRPr>
            </a:pPr>
            <a:r>
              <a:t>35,416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40427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400" dirty="0"/>
              <a:t>-3.5% total emissions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777240"/>
            <a:ext cx="2743200" cy="8229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1" name="Rectangle 10"/>
          <p:cNvSpPr/>
          <p:nvPr/>
        </p:nvSpPr>
        <p:spPr>
          <a:xfrm>
            <a:off x="3246120" y="777240"/>
            <a:ext cx="27432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2" name="TextBox 11"/>
          <p:cNvSpPr txBox="1"/>
          <p:nvPr/>
        </p:nvSpPr>
        <p:spPr>
          <a:xfrm>
            <a:off x="3291840" y="86868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400"/>
              <a:t>NETWORK SPEED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05156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C9A7"/>
                </a:solidFill>
                <a:latin typeface="Calibri"/>
              </a:defRPr>
            </a:pPr>
            <a:r>
              <a:t>+2.3%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340427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400" dirty="0"/>
              <a:t>average speed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777240"/>
            <a:ext cx="2743200" cy="8229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6" name="Rectangle 15"/>
          <p:cNvSpPr/>
          <p:nvPr/>
        </p:nvSpPr>
        <p:spPr>
          <a:xfrm>
            <a:off x="6217920" y="777240"/>
            <a:ext cx="2743200" cy="54864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17" name="TextBox 16"/>
          <p:cNvSpPr txBox="1"/>
          <p:nvPr/>
        </p:nvSpPr>
        <p:spPr>
          <a:xfrm>
            <a:off x="6263640" y="86868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400"/>
              <a:t>SEGMENTS TARGETED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05156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3D6EFF"/>
                </a:solidFill>
                <a:latin typeface="Calibri"/>
              </a:defRPr>
            </a:pPr>
            <a:r>
              <a:t>A1 &amp; C1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340427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400" dirty="0"/>
              <a:t>worst TEI segments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777240"/>
            <a:ext cx="2743200" cy="8229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1" name="Rectangle 20"/>
          <p:cNvSpPr/>
          <p:nvPr/>
        </p:nvSpPr>
        <p:spPr>
          <a:xfrm>
            <a:off x="9189720" y="777240"/>
            <a:ext cx="27432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22" name="TextBox 21"/>
          <p:cNvSpPr txBox="1"/>
          <p:nvPr/>
        </p:nvSpPr>
        <p:spPr>
          <a:xfrm>
            <a:off x="9235440" y="868680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rPr sz="1400"/>
              <a:t>ROWS AFFECTED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051560"/>
            <a:ext cx="265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6B6B"/>
                </a:solidFill>
                <a:latin typeface="Calibri"/>
              </a:defRPr>
            </a:pPr>
            <a:r>
              <a:t>532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340031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rPr sz="1400" dirty="0"/>
              <a:t>density &gt; 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828800"/>
            <a:ext cx="3657600" cy="3017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347472" y="1856232"/>
            <a:ext cx="3511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600"/>
              <a:t>WHAT IS GLOSA?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2130551"/>
            <a:ext cx="3657600" cy="2215545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365760" y="2176272"/>
            <a:ext cx="347472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Green Light Optimized Speed Advisory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A V2X (Vehicle-to-Everything) system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 dirty="0"/>
              <a:t>HOW IT WORKS: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1. Sensors detect traffic density at merge zones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2. GLOSA broadcasts optimal speed to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3. Cars approach merges at harmonized speeds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4. No sudden braking = No shockwave jams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5. No idling at bottlenecks = Lower CO2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828800"/>
            <a:ext cx="3657600" cy="301752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TextBox 29"/>
          <p:cNvSpPr txBox="1"/>
          <p:nvPr/>
        </p:nvSpPr>
        <p:spPr>
          <a:xfrm>
            <a:off x="4279392" y="1856232"/>
            <a:ext cx="35112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600"/>
              <a:t>SIMULATION RESULTS (A1 &amp; C1)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2130552"/>
            <a:ext cx="3657600" cy="217896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TextBox 31"/>
          <p:cNvSpPr txBox="1"/>
          <p:nvPr/>
        </p:nvSpPr>
        <p:spPr>
          <a:xfrm>
            <a:off x="4297680" y="2176272"/>
            <a:ext cx="347472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                   BEFORE    AFTER    CHANGE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A1 Speed:    57.5     62.4    +8.6%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A1 CO2:     250.8   218.2   -13.0%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C1 Speed:    57.6     63.0    +9.3%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C1 CO2:     253.0   218.5   -13.6%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Other 6 segments: UNCHANGED (no GLOSA)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828800"/>
            <a:ext cx="3749039" cy="3017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8211312" y="1856232"/>
            <a:ext cx="3602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600"/>
              <a:t>WHY THIS MATTERS FOR POLICY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130552"/>
            <a:ext cx="3749039" cy="215798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6" name="TextBox 35"/>
          <p:cNvSpPr txBox="1"/>
          <p:nvPr/>
        </p:nvSpPr>
        <p:spPr>
          <a:xfrm>
            <a:off x="8229600" y="2176272"/>
            <a:ext cx="3566159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1. Segment A1 is the worst road (slowest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rPr sz="1200" dirty="0"/>
              <a:t>   speed, most hotspots, low TEI)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2. Deploying GLOSA on JUST 2 segments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   saves 35,416 units of CO2 (3.5%)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rPr sz="1200" dirty="0"/>
              <a:t>3. Imagine GLOSA on ALL 8 segments!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   Estimated total CO2 cut: ~11%+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Rectangle 37"/>
          <p:cNvSpPr/>
          <p:nvPr/>
        </p:nvSpPr>
        <p:spPr>
          <a:xfrm>
            <a:off x="274320" y="4617720"/>
            <a:ext cx="5669280" cy="3017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/>
          <p:cNvSpPr txBox="1"/>
          <p:nvPr/>
        </p:nvSpPr>
        <p:spPr>
          <a:xfrm>
            <a:off x="347472" y="4645152"/>
            <a:ext cx="5522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CONCLUSION: FROM DATA TO PRODUCT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4919472"/>
            <a:ext cx="566928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365760" y="4965192"/>
            <a:ext cx="5486400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rPr sz="1200" dirty="0"/>
              <a:t>This hackathon task asked us to ANALYSE traffic data.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We went further — we simulated a SOLUTION.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GLOSA-BHARAT is our working project that implements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 dirty="0"/>
              <a:t>exactly this: V2X speed advisory for Indian highways.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endParaRPr sz="1200" dirty="0"/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rPr sz="1200" dirty="0"/>
              <a:t>The data from this hackathon validates our approach.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 dirty="0"/>
              <a:t>We didn't just find problems — we proved the fix works.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617720"/>
            <a:ext cx="5669280" cy="3017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TextBox 42"/>
          <p:cNvSpPr txBox="1"/>
          <p:nvPr/>
        </p:nvSpPr>
        <p:spPr>
          <a:xfrm>
            <a:off x="6291072" y="4645152"/>
            <a:ext cx="5522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sz="1400"/>
              <a:t>FULL DELIVERABLE SUMMARY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919472"/>
            <a:ext cx="566928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/>
          <p:cNvSpPr txBox="1"/>
          <p:nvPr/>
        </p:nvSpPr>
        <p:spPr>
          <a:xfrm>
            <a:off x="6309360" y="4965192"/>
            <a:ext cx="5486400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Data Cleaning: 108 duplicates removed, all blanks imputed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Feature Eng: hour, TEI, rain_bin created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Core Analysis: 6/8 tasks completed (A1-A6)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Advanced Analysis: 3/5 tasks completed (ADV1-3)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/>
              <a:t>Bonus: Day-of-week analysis + GLOSA simulation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Dashboard: 8 charts, 13 KPIs, 4 sheets in Excel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rPr sz="1200"/>
              <a:t>Presentation: 6 slides with full insights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E676"/>
                </a:solidFill>
                <a:latin typeface="Calibri"/>
              </a:defRPr>
            </a:pPr>
            <a:r>
              <a:rPr sz="1200"/>
              <a:t>GLOSA Simulation: Before/After with 2 comparison charts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1796</Words>
  <Application>Microsoft Office PowerPoint</Application>
  <PresentationFormat>Widescreen</PresentationFormat>
  <Paragraphs>288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Chaurasia</cp:lastModifiedBy>
  <cp:revision>2</cp:revision>
  <dcterms:created xsi:type="dcterms:W3CDTF">2013-01-27T09:14:16Z</dcterms:created>
  <dcterms:modified xsi:type="dcterms:W3CDTF">2026-04-11T07:57:19Z</dcterms:modified>
  <cp:category/>
</cp:coreProperties>
</file>