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1" r:id="rId12"/>
    <p:sldId id="262" r:id="rId13"/>
    <p:sldId id="263" r:id="rId14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 i="0">
                <a:solidFill>
                  <a:srgbClr val="FFFFFF"/>
                </a:solidFill>
                <a:latin typeface="Calibri"/>
              </a:defRPr>
            </a:pPr>
            <a:r>
              <a:t>Smart Highway Traffic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1">
                <a:solidFill>
                  <a:srgbClr val="00D2A8"/>
                </a:solidFill>
                <a:latin typeface="Calibri"/>
              </a:defRPr>
            </a:pPr>
            <a:r>
              <a:t>Data-Driven Insights for Emission Reduction &amp; Congestion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383280"/>
            <a:ext cx="3017520" cy="18288"/>
          </a:xfrm>
          <a:prstGeom prst="rect">
            <a:avLst/>
          </a:prstGeom>
          <a:solidFill>
            <a:srgbClr val="00D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7A8392"/>
                </a:solidFill>
                <a:latin typeface="Calibri"/>
              </a:defRPr>
            </a:pPr>
            <a:r>
              <a:t>Highway Dataset  |  4,012 Records  |  8 Road Segments  |  Jan-Mar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0"/>
            <a:ext cx="12191695" cy="18288"/>
          </a:xfrm>
          <a:prstGeom prst="rect">
            <a:avLst/>
          </a:prstGeom>
          <a:solidFill>
            <a:srgbClr val="1E2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00D2A8"/>
                </a:solidFill>
                <a:latin typeface="Calibri"/>
              </a:defRPr>
            </a:pPr>
            <a:r>
              <a:t>4,012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7A8392"/>
                </a:solidFill>
                <a:latin typeface="Calibri"/>
              </a:defRPr>
            </a:pPr>
            <a:r>
              <a:t>Clean 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5486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FF5C5C"/>
                </a:solidFill>
                <a:latin typeface="Calibri"/>
              </a:defRPr>
            </a:pPr>
            <a:r>
              <a:t>108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5943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7A8392"/>
                </a:solidFill>
                <a:latin typeface="Calibri"/>
              </a:defRPr>
            </a:pPr>
            <a:r>
              <a:t>Duplicates Removed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5486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457BFF"/>
                </a:solidFill>
                <a:latin typeface="Calibri"/>
              </a:defRPr>
            </a:pPr>
            <a:r>
              <a:t>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5943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7A8392"/>
                </a:solidFill>
                <a:latin typeface="Calibri"/>
              </a:defRPr>
            </a:pPr>
            <a:r>
              <a:t>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486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BB86FC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5943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7A8392"/>
                </a:solidFill>
                <a:latin typeface="Calibri"/>
              </a:defRPr>
            </a:pPr>
            <a:r>
              <a:t>Segments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486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FFC107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0" y="5943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7A8392"/>
                </a:solidFill>
                <a:latin typeface="Calibri"/>
              </a:defRPr>
            </a:pPr>
            <a:r>
              <a:t>KPIs Computed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D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The Problem: What the Data Reveals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2743200" cy="27432"/>
          </a:xfrm>
          <a:prstGeom prst="rect">
            <a:avLst/>
          </a:prstGeom>
          <a:solidFill>
            <a:srgbClr val="00D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2194560" cy="137160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2194560" cy="45720"/>
          </a:xfrm>
          <a:prstGeom prst="rect">
            <a:avLst/>
          </a:prstGeom>
          <a:solidFill>
            <a:srgbClr val="45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457BFF"/>
                </a:solidFill>
                <a:latin typeface="Calibri"/>
              </a:defRPr>
            </a:pPr>
            <a:r>
              <a:t>59.72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7A8392"/>
                </a:solidFill>
                <a:latin typeface="Calibri"/>
              </a:defRPr>
            </a:pPr>
            <a:r>
              <a:t>Avg Speed (kmph)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1097280"/>
            <a:ext cx="2194560" cy="137160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88920" y="1097280"/>
            <a:ext cx="2194560" cy="4572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12344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FF5C5C"/>
                </a:solidFill>
                <a:latin typeface="Calibri"/>
              </a:defRPr>
            </a:pPr>
            <a:r>
              <a:t>249.08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1965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7A8392"/>
                </a:solidFill>
                <a:latin typeface="Calibri"/>
              </a:defRPr>
            </a:pPr>
            <a:r>
              <a:t>Avg CO₂ Emission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1097280"/>
            <a:ext cx="2194560" cy="137160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12080" y="1097280"/>
            <a:ext cx="2194560" cy="457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60" y="12344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FFC107"/>
                </a:solidFill>
                <a:latin typeface="Calibri"/>
              </a:defRPr>
            </a:pPr>
            <a:r>
              <a:t>18:00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1965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7A8392"/>
                </a:solidFill>
                <a:latin typeface="Calibri"/>
              </a:defRPr>
            </a:pPr>
            <a:r>
              <a:t>Peak Traffic Hour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1097280"/>
            <a:ext cx="2194560" cy="137160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35240" y="1097280"/>
            <a:ext cx="2194560" cy="4572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18120" y="12344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FF5C5C"/>
                </a:solidFill>
                <a:latin typeface="Calibri"/>
              </a:defRPr>
            </a:pPr>
            <a:r>
              <a:t>A1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1965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7A8392"/>
                </a:solidFill>
                <a:latin typeface="Calibri"/>
              </a:defRPr>
            </a:pPr>
            <a:r>
              <a:t>Slowest Segment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0" y="1097280"/>
            <a:ext cx="2194560" cy="137160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058400" y="1097280"/>
            <a:ext cx="2194560" cy="4572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0" y="12344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BB86FC"/>
                </a:solidFill>
                <a:latin typeface="Calibri"/>
              </a:defRPr>
            </a:pPr>
            <a:r>
              <a:t>D1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1965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7A8392"/>
                </a:solidFill>
                <a:latin typeface="Calibri"/>
              </a:defRPr>
            </a:pPr>
            <a:r>
              <a:t>Most Congested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2743200"/>
            <a:ext cx="3566160" cy="347472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2743200"/>
            <a:ext cx="3566160" cy="36576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292608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FF5C5C"/>
                </a:solidFill>
                <a:latin typeface="Calibri"/>
              </a:defRPr>
            </a:pPr>
            <a:r>
              <a:t>Congestion = Pollution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BBBBBB"/>
                </a:solidFill>
                <a:latin typeface="Calibri"/>
              </a:defRPr>
            </a:pPr>
            <a:r>
              <a:t>High congestion areas produce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18% more CO₂ than low congestion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100" b="0">
                <a:solidFill>
                  <a:srgbClr val="FF5C5C"/>
                </a:solidFill>
                <a:latin typeface="Calibri"/>
              </a:defRPr>
            </a:pPr>
            <a:r>
              <a:t>High:    266.86 avg CO₂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100" b="0">
                <a:solidFill>
                  <a:srgbClr val="FFC107"/>
                </a:solidFill>
                <a:latin typeface="Calibri"/>
              </a:defRPr>
            </a:pPr>
            <a:r>
              <a:t>Medium: 252.34 avg CO₂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100" b="0">
                <a:solidFill>
                  <a:srgbClr val="00E676"/>
                </a:solidFill>
                <a:latin typeface="Calibri"/>
              </a:defRPr>
            </a:pPr>
            <a:r>
              <a:t>Low:     226.01 avg CO₂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000" b="0">
                <a:solidFill>
                  <a:srgbClr val="7A8392"/>
                </a:solidFill>
                <a:latin typeface="Calibri"/>
              </a:defRPr>
            </a:pPr>
            <a:r>
              <a:t>Direct link: reduce congestion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000" b="0">
                <a:solidFill>
                  <a:srgbClr val="7A8392"/>
                </a:solidFill>
                <a:latin typeface="Calibri"/>
              </a:defRPr>
            </a:pPr>
            <a:r>
              <a:t>= reduce pollution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06240" y="2743200"/>
            <a:ext cx="3566160" cy="347472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06240" y="2743200"/>
            <a:ext cx="3566160" cy="36576"/>
          </a:xfrm>
          <a:prstGeom prst="rect">
            <a:avLst/>
          </a:prstGeom>
          <a:solidFill>
            <a:srgbClr val="45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60" y="292608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457BFF"/>
                </a:solidFill>
                <a:latin typeface="Calibri"/>
              </a:defRPr>
            </a:pPr>
            <a:r>
              <a:t>Worst Performing Roads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FF5C5C"/>
                </a:solidFill>
                <a:latin typeface="Calibri"/>
              </a:defRPr>
            </a:pPr>
            <a:r>
              <a:t>Segment A1: Slowest (57.46 kmph)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FF5C5C"/>
                </a:solidFill>
                <a:latin typeface="Calibri"/>
              </a:defRPr>
            </a:pPr>
            <a:r>
              <a:t>Segment D1: Most Dense (71.54)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FF5C5C"/>
                </a:solidFill>
                <a:latin typeface="Calibri"/>
              </a:defRPr>
            </a:pPr>
            <a:r>
              <a:t>Segment C1: Worst Efficiency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BBBBBB"/>
                </a:solidFill>
                <a:latin typeface="Calibri"/>
              </a:defRPr>
            </a:pPr>
            <a:r>
              <a:t>Top Emission Hotspot: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1">
                <a:solidFill>
                  <a:srgbClr val="FFC107"/>
                </a:solidFill>
                <a:latin typeface="Calibri"/>
              </a:defRPr>
            </a:pPr>
            <a:r>
              <a:t>Segment A1 appears TWICE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FFC107"/>
                </a:solidFill>
                <a:latin typeface="Calibri"/>
              </a:defRPr>
            </a:pPr>
            <a:r>
              <a:t>in the top 5 CO₂ hotspots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000" b="0">
                <a:solidFill>
                  <a:srgbClr val="7A8392"/>
                </a:solidFill>
                <a:latin typeface="Calibri"/>
              </a:defRPr>
            </a:pPr>
            <a:r>
              <a:t>A1 needs urgent intervention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0" y="2743200"/>
            <a:ext cx="3566160" cy="347472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46720" y="2743200"/>
            <a:ext cx="3566160" cy="36576"/>
          </a:xfrm>
          <a:prstGeom prst="rect">
            <a:avLst/>
          </a:prstGeom>
          <a:solidFill>
            <a:srgbClr val="00D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292608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00D2A8"/>
                </a:solidFill>
                <a:latin typeface="Calibri"/>
              </a:defRPr>
            </a:pPr>
            <a:r>
              <a:t>Traffic Patterns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BBBBBB"/>
                </a:solidFill>
                <a:latin typeface="Calibri"/>
              </a:defRPr>
            </a:pPr>
            <a:r>
              <a:t>Peak hour: 6 PM (327,645 vehicles)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BBBBBB"/>
                </a:solidFill>
                <a:latin typeface="Calibri"/>
              </a:defRPr>
            </a:pPr>
            <a:r>
              <a:t>Evening rush dominates (6-10 PM)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BBBBBB"/>
                </a:solidFill>
                <a:latin typeface="Calibri"/>
              </a:defRPr>
            </a:pPr>
            <a:r>
              <a:t>Busiest day: Saturday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BBBBBB"/>
                </a:solidFill>
                <a:latin typeface="Calibri"/>
              </a:defRPr>
            </a:pPr>
            <a:r>
              <a:t>Quietest day: Wednesday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1">
                <a:solidFill>
                  <a:srgbClr val="FFC107"/>
                </a:solidFill>
                <a:latin typeface="Calibri"/>
              </a:defRPr>
            </a:pPr>
            <a:r>
              <a:t>Surprising finding: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Rainfall has NO significant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impact on speed (&lt;2 kmph diff)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D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45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Deep Analysis: Efficiency, EV Impact &amp; Gore Points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2743200" cy="27432"/>
          </a:xfrm>
          <a:prstGeom prst="rect">
            <a:avLst/>
          </a:prstGeom>
          <a:solidFill>
            <a:srgbClr val="45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3657600" cy="512064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3657600" cy="36576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3108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BB86FC"/>
                </a:solidFill>
                <a:latin typeface="Calibri"/>
              </a:defRPr>
            </a:pPr>
            <a:r>
              <a:t>Traffic Efficiency Index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000" b="0">
                <a:solidFill>
                  <a:srgbClr val="7A8392"/>
                </a:solidFill>
                <a:latin typeface="Calibri"/>
              </a:defRPr>
            </a:pPr>
            <a:r>
              <a:t>TEI = Speed / Density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000" b="0">
                <a:solidFill>
                  <a:srgbClr val="7A8392"/>
                </a:solidFill>
                <a:latin typeface="Calibri"/>
              </a:defRPr>
            </a:pPr>
            <a:r>
              <a:t>Higher = better road performance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1">
                <a:solidFill>
                  <a:srgbClr val="00E676"/>
                </a:solidFill>
                <a:latin typeface="Calibri"/>
              </a:defRPr>
            </a:pPr>
            <a:r>
              <a:t>#1  D2    TEI = 1.390  (BEST)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BBBBBB"/>
                </a:solidFill>
                <a:latin typeface="Calibri"/>
              </a:defRPr>
            </a:pPr>
            <a:r>
              <a:t>#2  A2    TEI = 1.382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BBBBBB"/>
                </a:solidFill>
                <a:latin typeface="Calibri"/>
              </a:defRPr>
            </a:pPr>
            <a:r>
              <a:t>#3  B1    TEI = 1.378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BBBBBB"/>
                </a:solidFill>
                <a:latin typeface="Calibri"/>
              </a:defRPr>
            </a:pPr>
            <a:r>
              <a:t>#4  C2    TEI = 1.363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BBBBBB"/>
                </a:solidFill>
                <a:latin typeface="Calibri"/>
              </a:defRPr>
            </a:pPr>
            <a:r>
              <a:t>#5  B2    TEI = 1.340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BBBBBB"/>
                </a:solidFill>
                <a:latin typeface="Calibri"/>
              </a:defRPr>
            </a:pPr>
            <a:r>
              <a:t>#6  D1    TEI = 1.331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FFC107"/>
                </a:solidFill>
                <a:latin typeface="Calibri"/>
              </a:defRPr>
            </a:pPr>
            <a:r>
              <a:t>#7  A1    TEI = 1.279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1">
                <a:solidFill>
                  <a:srgbClr val="FF5C5C"/>
                </a:solidFill>
                <a:latin typeface="Calibri"/>
              </a:defRPr>
            </a:pPr>
            <a:r>
              <a:t>#8  C1    TEI = 1.240  (WORST)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000" b="0">
                <a:solidFill>
                  <a:srgbClr val="00D2A8"/>
                </a:solidFill>
                <a:latin typeface="Calibri"/>
              </a:defRPr>
            </a:pPr>
            <a:r>
              <a:t>Study D2 config as model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000" b="0">
                <a:solidFill>
                  <a:srgbClr val="FF5C5C"/>
                </a:solidFill>
                <a:latin typeface="Calibri"/>
              </a:defRPr>
            </a:pPr>
            <a:r>
              <a:t>Redesign C1 infrastructure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097280"/>
            <a:ext cx="3657600" cy="512064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097280"/>
            <a:ext cx="3657600" cy="36576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280160"/>
            <a:ext cx="3108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00E676"/>
                </a:solidFill>
                <a:latin typeface="Calibri"/>
              </a:defRPr>
            </a:pPr>
            <a:r>
              <a:t>EV Adoption Simulation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000" b="0">
                <a:solidFill>
                  <a:srgbClr val="7A8392"/>
                </a:solidFill>
                <a:latin typeface="Calibri"/>
              </a:defRPr>
            </a:pPr>
            <a:r>
              <a:t>What if we increase EVs?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BBBBBB"/>
                </a:solidFill>
                <a:latin typeface="Calibri"/>
              </a:defRPr>
            </a:pPr>
            <a:r>
              <a:t>Current fleet: 33.9% EV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BBBBBB"/>
                </a:solidFill>
                <a:latin typeface="Calibri"/>
              </a:defRPr>
            </a:pPr>
            <a:r>
              <a:t>Current avg CO₂: 249.08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BBBBBB"/>
                </a:solidFill>
                <a:latin typeface="Calibri"/>
              </a:defRPr>
            </a:pPr>
            <a:r>
              <a:t>25% EV  →  21.3% CO₂ reduction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1">
                <a:solidFill>
                  <a:srgbClr val="00E676"/>
                </a:solidFill>
                <a:latin typeface="Calibri"/>
              </a:defRPr>
            </a:pPr>
            <a:r>
              <a:t>50% EV  →  42.5% CO₂ reduction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BBBBBB"/>
                </a:solidFill>
                <a:latin typeface="Calibri"/>
              </a:defRPr>
            </a:pPr>
            <a:r>
              <a:t>75% EV  →  63.7% CO₂ reduction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1">
                <a:solidFill>
                  <a:srgbClr val="00D2A8"/>
                </a:solidFill>
                <a:latin typeface="Calibri"/>
              </a:defRPr>
            </a:pPr>
            <a:r>
              <a:t>100% EV →  85.0% CO₂ reduction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1">
                <a:solidFill>
                  <a:srgbClr val="FFC107"/>
                </a:solidFill>
                <a:latin typeface="Calibri"/>
              </a:defRPr>
            </a:pPr>
            <a:r>
              <a:t>Key takeaway: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Just reaching 50% EV adoption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cuts nearly HALF of all CO₂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000" b="0">
                <a:solidFill>
                  <a:srgbClr val="00E676"/>
                </a:solidFill>
                <a:latin typeface="Calibri"/>
              </a:defRPr>
            </a:pPr>
            <a:r>
              <a:t>Build charging infra NOW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097280"/>
            <a:ext cx="3657600" cy="228600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1097280"/>
            <a:ext cx="3657600" cy="36576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28016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FFC107"/>
                </a:solidFill>
                <a:latin typeface="Calibri"/>
              </a:defRPr>
            </a:pPr>
            <a:r>
              <a:t>Gore Point Impact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000" b="0">
                <a:solidFill>
                  <a:srgbClr val="7A8392"/>
                </a:solidFill>
                <a:latin typeface="Calibri"/>
              </a:defRPr>
            </a:pPr>
            <a:r>
              <a:t>Merge/diverge zones on highway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000" b="0">
                <a:solidFill>
                  <a:srgbClr val="7A8392"/>
                </a:solidFill>
                <a:latin typeface="Calibri"/>
              </a:defRPr>
            </a:pPr>
            <a:r>
              <a:t>           Non-Gore    Gore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BBBBBB"/>
                </a:solidFill>
                <a:latin typeface="Calibri"/>
              </a:defRPr>
            </a:pPr>
            <a:r>
              <a:t>Speed:    58.4        61.4  kmph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BBBBBB"/>
                </a:solidFill>
                <a:latin typeface="Calibri"/>
              </a:defRPr>
            </a:pPr>
            <a:r>
              <a:t>CO₂:      244.1       255.6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BBBBBB"/>
                </a:solidFill>
                <a:latin typeface="Calibri"/>
              </a:defRPr>
            </a:pPr>
            <a:r>
              <a:t>Density: 64.6        69.2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3657600"/>
            <a:ext cx="3657600" cy="256032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3657600"/>
            <a:ext cx="3657600" cy="36576"/>
          </a:xfrm>
          <a:prstGeom prst="rect">
            <a:avLst/>
          </a:prstGeom>
          <a:solidFill>
            <a:srgbClr val="00D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384048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00D2A8"/>
                </a:solidFill>
                <a:latin typeface="Calibri"/>
              </a:defRPr>
            </a:pPr>
            <a:r>
              <a:t>New Findings for Policy Board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1. Saturday is busiest day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000" b="0">
                <a:solidFill>
                  <a:srgbClr val="7A8392"/>
                </a:solidFill>
                <a:latin typeface="Calibri"/>
              </a:defRPr>
            </a:pPr>
            <a:r>
              <a:t>   → Schedule roadwork on Wednesday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2. Rain doesn't slow traffic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000" b="0">
                <a:solidFill>
                  <a:srgbClr val="7A8392"/>
                </a:solidFill>
                <a:latin typeface="Calibri"/>
              </a:defRPr>
            </a:pPr>
            <a:r>
              <a:t>   → Density is the real bottleneck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100" b="0">
                <a:solidFill>
                  <a:srgbClr val="FF5C5C"/>
                </a:solidFill>
                <a:latin typeface="Calibri"/>
              </a:defRPr>
            </a:pPr>
            <a:r>
              <a:t>3. A1 appears in worst lists 3 times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000" b="0">
                <a:solidFill>
                  <a:srgbClr val="FF5C5C"/>
                </a:solidFill>
                <a:latin typeface="Calibri"/>
              </a:defRPr>
            </a:pPr>
            <a:r>
              <a:t>   → Priority #1 for intervention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45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The Solution: GLOSA-BHARAT Deployment Simulation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2743200" cy="2743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2743200" cy="137160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2743200" cy="457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00E676"/>
                </a:solidFill>
                <a:latin typeface="Calibri"/>
              </a:defRPr>
            </a:pPr>
            <a:r>
              <a:t>35,416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7A8392"/>
                </a:solidFill>
                <a:latin typeface="Calibri"/>
              </a:defRPr>
            </a:pPr>
            <a:r>
              <a:t>CO₂ Units Saved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097280"/>
            <a:ext cx="2743200" cy="137160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1097280"/>
            <a:ext cx="2743200" cy="45720"/>
          </a:xfrm>
          <a:prstGeom prst="rect">
            <a:avLst/>
          </a:prstGeom>
          <a:solidFill>
            <a:srgbClr val="00D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2344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00D2A8"/>
                </a:solidFill>
                <a:latin typeface="Calibri"/>
              </a:defRPr>
            </a:pPr>
            <a:r>
              <a:t>+2.3%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965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7A8392"/>
                </a:solidFill>
                <a:latin typeface="Calibri"/>
              </a:defRPr>
            </a:pPr>
            <a:r>
              <a:t>Speed Improvement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097280"/>
            <a:ext cx="2743200" cy="137160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097280"/>
            <a:ext cx="2743200" cy="4572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2344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FF5C5C"/>
                </a:solidFill>
                <a:latin typeface="Calibri"/>
              </a:defRPr>
            </a:pPr>
            <a:r>
              <a:t>A1 &amp; C1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965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7A8392"/>
                </a:solidFill>
                <a:latin typeface="Calibri"/>
              </a:defRPr>
            </a:pPr>
            <a:r>
              <a:t>Segments Targeted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1160" y="1097280"/>
            <a:ext cx="2743200" cy="137160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81160" y="1097280"/>
            <a:ext cx="2743200" cy="45720"/>
          </a:xfrm>
          <a:prstGeom prst="rect">
            <a:avLst/>
          </a:prstGeom>
          <a:solidFill>
            <a:srgbClr val="45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64040" y="12344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457BFF"/>
                </a:solidFill>
                <a:latin typeface="Calibri"/>
              </a:defRPr>
            </a:pPr>
            <a:r>
              <a:t>532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1965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7A8392"/>
                </a:solidFill>
                <a:latin typeface="Calibri"/>
              </a:defRPr>
            </a:pPr>
            <a:r>
              <a:t>Rows Affected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2743200"/>
            <a:ext cx="3657600" cy="347472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2743200"/>
            <a:ext cx="3657600" cy="36576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92608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00E676"/>
                </a:solidFill>
                <a:latin typeface="Calibri"/>
              </a:defRPr>
            </a:pPr>
            <a:r>
              <a:t>What is GLOSA?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Green Light Optimized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Speed Advisory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100" b="0">
                <a:solidFill>
                  <a:srgbClr val="BBBBBB"/>
                </a:solidFill>
                <a:latin typeface="Calibri"/>
              </a:defRPr>
            </a:pPr>
            <a:r>
              <a:t>A V2X system that tells drivers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100" b="0">
                <a:solidFill>
                  <a:srgbClr val="BBBBBB"/>
                </a:solidFill>
                <a:latin typeface="Calibri"/>
              </a:defRPr>
            </a:pPr>
            <a:r>
              <a:t>the optimal speed to maintain,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100" b="0">
                <a:solidFill>
                  <a:srgbClr val="BBBBBB"/>
                </a:solidFill>
                <a:latin typeface="Calibri"/>
              </a:defRPr>
            </a:pPr>
            <a:r>
              <a:t>preventing stop-and-go traffic.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1">
                <a:solidFill>
                  <a:srgbClr val="00D2A8"/>
                </a:solidFill>
                <a:latin typeface="Calibri"/>
              </a:defRPr>
            </a:pPr>
            <a:r>
              <a:t>No sudden braking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1">
                <a:solidFill>
                  <a:srgbClr val="00D2A8"/>
                </a:solidFill>
                <a:latin typeface="Calibri"/>
              </a:defRPr>
            </a:pPr>
            <a:r>
              <a:t>= No shockwave jams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1">
                <a:solidFill>
                  <a:srgbClr val="00D2A8"/>
                </a:solidFill>
                <a:latin typeface="Calibri"/>
              </a:defRPr>
            </a:pPr>
            <a:r>
              <a:t>= No idle CO₂ emissions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2743200"/>
            <a:ext cx="3657600" cy="347472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80" y="2743200"/>
            <a:ext cx="3657600" cy="36576"/>
          </a:xfrm>
          <a:prstGeom prst="rect">
            <a:avLst/>
          </a:prstGeom>
          <a:solidFill>
            <a:srgbClr val="45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292608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457BFF"/>
                </a:solidFill>
                <a:latin typeface="Calibri"/>
              </a:defRPr>
            </a:pPr>
            <a:r>
              <a:t>Before vs After GLOSA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SEGMENT A1: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00E676"/>
                </a:solidFill>
                <a:latin typeface="Calibri"/>
              </a:defRPr>
            </a:pPr>
            <a:r>
              <a:t>Speed: 57.5 → 63.3 kmph (+10.2%)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00E676"/>
                </a:solidFill>
                <a:latin typeface="Calibri"/>
              </a:defRPr>
            </a:pPr>
            <a:r>
              <a:t>CO₂:   244.5 → 212.3 (-13.2%)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SEGMENT C1: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00E676"/>
                </a:solidFill>
                <a:latin typeface="Calibri"/>
              </a:defRPr>
            </a:pPr>
            <a:r>
              <a:t>Speed: 57.6 → 64.1 kmph (+11.3%)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00E676"/>
                </a:solidFill>
                <a:latin typeface="Calibri"/>
              </a:defRPr>
            </a:pPr>
            <a:r>
              <a:t>CO₂:   252.0 → 215.8 (-14.4%)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100" b="1">
                <a:solidFill>
                  <a:srgbClr val="FFC107"/>
                </a:solidFill>
                <a:latin typeface="Calibri"/>
              </a:defRPr>
            </a:pPr>
            <a:r>
              <a:t>Just 2 segments targeted,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100" b="1">
                <a:solidFill>
                  <a:srgbClr val="FFC107"/>
                </a:solidFill>
                <a:latin typeface="Calibri"/>
              </a:defRPr>
            </a:pPr>
            <a:r>
              <a:t>3.5% total network CO₂ drop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2743200"/>
            <a:ext cx="3657600" cy="347472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2743200"/>
            <a:ext cx="3657600" cy="36576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0" y="292608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FFC107"/>
                </a:solidFill>
                <a:latin typeface="Calibri"/>
              </a:defRPr>
            </a:pPr>
            <a:r>
              <a:t>Policy Recommendation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1">
                <a:solidFill>
                  <a:srgbClr val="FFC107"/>
                </a:solidFill>
                <a:latin typeface="Calibri"/>
              </a:defRPr>
            </a:pPr>
            <a:r>
              <a:t>IMMEDIATE: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100" b="0">
                <a:solidFill>
                  <a:srgbClr val="BBBBBB"/>
                </a:solidFill>
                <a:latin typeface="Calibri"/>
              </a:defRPr>
            </a:pPr>
            <a:r>
              <a:t>Deploy GLOSA on A1 &amp; C1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100" b="0">
                <a:solidFill>
                  <a:srgbClr val="BBBBBB"/>
                </a:solidFill>
                <a:latin typeface="Calibri"/>
              </a:defRPr>
            </a:pPr>
            <a:r>
              <a:t>Adaptive signals at 6 PM peak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1">
                <a:solidFill>
                  <a:srgbClr val="00D2A8"/>
                </a:solidFill>
                <a:latin typeface="Calibri"/>
              </a:defRPr>
            </a:pPr>
            <a:r>
              <a:t>SHORT-TERM: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100" b="0">
                <a:solidFill>
                  <a:srgbClr val="BBBBBB"/>
                </a:solidFill>
                <a:latin typeface="Calibri"/>
              </a:defRPr>
            </a:pPr>
            <a:r>
              <a:t>EV incentives (target 50%)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100" b="0">
                <a:solidFill>
                  <a:srgbClr val="BBBBBB"/>
                </a:solidFill>
                <a:latin typeface="Calibri"/>
              </a:defRPr>
            </a:pPr>
            <a:r>
              <a:t>Restructure C1 (worst TEI)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1">
                <a:solidFill>
                  <a:srgbClr val="BB86FC"/>
                </a:solidFill>
                <a:latin typeface="Calibri"/>
              </a:defRPr>
            </a:pPr>
            <a:r>
              <a:t>LONG-TERM: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100" b="0">
                <a:solidFill>
                  <a:srgbClr val="BBBBBB"/>
                </a:solidFill>
                <a:latin typeface="Calibri"/>
              </a:defRPr>
            </a:pPr>
            <a:r>
              <a:t>GLOSA on all 8 segments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100" b="0">
                <a:solidFill>
                  <a:srgbClr val="BBBBBB"/>
                </a:solidFill>
                <a:latin typeface="Calibri"/>
              </a:defRPr>
            </a:pPr>
            <a:r>
              <a:t>Weather-adaptive speed advisories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 i="1">
                <a:solidFill>
                  <a:srgbClr val="7A8392"/>
                </a:solidFill>
                <a:latin typeface="Calibri"/>
              </a:defRPr>
            </a:pPr>
            <a:r>
              <a:t>We didn't just analyse the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00E676"/>
                </a:solidFill>
                <a:latin typeface="Calibri"/>
              </a:defRPr>
            </a:pPr>
            <a:r>
              <a:t>We proved the solution works.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2468880"/>
            <a:ext cx="3017520" cy="18288"/>
          </a:xfrm>
          <a:prstGeom prst="rect">
            <a:avLst/>
          </a:prstGeom>
          <a:solidFill>
            <a:srgbClr val="00D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2834640"/>
            <a:ext cx="2103120" cy="137160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834640"/>
            <a:ext cx="2103120" cy="45720"/>
          </a:xfrm>
          <a:prstGeom prst="rect">
            <a:avLst/>
          </a:prstGeom>
          <a:solidFill>
            <a:srgbClr val="45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9718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457BFF"/>
                </a:solidFill>
                <a:latin typeface="Calibri"/>
              </a:defRPr>
            </a:pPr>
            <a:r>
              <a:t>6/8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03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7A8392"/>
                </a:solidFill>
                <a:latin typeface="Calibri"/>
              </a:defRPr>
            </a:pPr>
            <a:r>
              <a:t>Core Analyses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2834640"/>
            <a:ext cx="2103120" cy="137160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88920" y="2834640"/>
            <a:ext cx="2103120" cy="4572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29718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BB86FC"/>
                </a:solidFill>
                <a:latin typeface="Calibri"/>
              </a:defRPr>
            </a:pPr>
            <a:r>
              <a:t>3/5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3703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7A8392"/>
                </a:solidFill>
                <a:latin typeface="Calibri"/>
              </a:defRPr>
            </a:pPr>
            <a:r>
              <a:t>Advanced Analyses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2834640"/>
            <a:ext cx="2103120" cy="137160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20640" y="2834640"/>
            <a:ext cx="2103120" cy="457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0" y="29718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FFC107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3703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7A8392"/>
                </a:solidFill>
                <a:latin typeface="Calibri"/>
              </a:defRPr>
            </a:pPr>
            <a:r>
              <a:t>KPIs Computed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59" y="2834640"/>
            <a:ext cx="2103120" cy="137160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52359" y="2834640"/>
            <a:ext cx="2103120" cy="457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35239" y="29718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00E676"/>
                </a:solidFill>
                <a:latin typeface="Calibri"/>
              </a:defRPr>
            </a:pPr>
            <a:r>
              <a:t>35,416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39" y="3703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7A8392"/>
                </a:solidFill>
                <a:latin typeface="Calibri"/>
              </a:defRPr>
            </a:pPr>
            <a:r>
              <a:t>CO₂ Saved by GLOSA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84080" y="2834640"/>
            <a:ext cx="2103120" cy="137160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784080" y="2834640"/>
            <a:ext cx="2103120" cy="45720"/>
          </a:xfrm>
          <a:prstGeom prst="rect">
            <a:avLst/>
          </a:prstGeom>
          <a:solidFill>
            <a:srgbClr val="00D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6960" y="29718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00D2A8"/>
                </a:solidFill>
                <a:latin typeface="Calibri"/>
              </a:defRPr>
            </a:pPr>
            <a:r>
              <a:t>+42.5%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3703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7A8392"/>
                </a:solidFill>
                <a:latin typeface="Calibri"/>
              </a:defRPr>
            </a:pPr>
            <a:r>
              <a:t>CO₂ Cut at 50% EV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572000"/>
            <a:ext cx="5486400" cy="164592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572000"/>
            <a:ext cx="5486400" cy="36576"/>
          </a:xfrm>
          <a:prstGeom prst="rect">
            <a:avLst/>
          </a:prstGeom>
          <a:solidFill>
            <a:srgbClr val="45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70916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457BFF"/>
                </a:solidFill>
                <a:latin typeface="Calibri"/>
              </a:defRPr>
            </a:pPr>
            <a:r>
              <a:t>What We Delivered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100" b="0">
                <a:solidFill>
                  <a:srgbClr val="BBBBBB"/>
                </a:solidFill>
                <a:latin typeface="Calibri"/>
              </a:defRPr>
            </a:pPr>
            <a:r>
              <a:t>✓  Data cleaned: 108 duplicates removed, all blanks imputed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100" b="0">
                <a:solidFill>
                  <a:srgbClr val="BBBBBB"/>
                </a:solidFill>
                <a:latin typeface="Calibri"/>
              </a:defRPr>
            </a:pPr>
            <a:r>
              <a:t>✓  Features: Hour, TEI, Rain Category engineered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100" b="0">
                <a:solidFill>
                  <a:srgbClr val="BBBBBB"/>
                </a:solidFill>
                <a:latin typeface="Calibri"/>
              </a:defRPr>
            </a:pPr>
            <a:r>
              <a:t>✓  6 Core + 3 Advanced + 2 Bonus analyses completed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100" b="0">
                <a:solidFill>
                  <a:srgbClr val="BBBBBB"/>
                </a:solidFill>
                <a:latin typeface="Calibri"/>
              </a:defRPr>
            </a:pPr>
            <a:r>
              <a:t>✓  Excel Dashboard: 10 charts, 5 sheets, 13 KPIs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100" b="0">
                <a:solidFill>
                  <a:srgbClr val="00E676"/>
                </a:solidFill>
                <a:latin typeface="Calibri"/>
              </a:defRPr>
            </a:pPr>
            <a:r>
              <a:t>✓  GLOSA-BHARAT simulation with proven CO₂ savings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572000"/>
            <a:ext cx="5486400" cy="1645920"/>
          </a:xfrm>
          <a:prstGeom prst="round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4572000"/>
            <a:ext cx="5486400" cy="36576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470916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00E676"/>
                </a:solidFill>
                <a:latin typeface="Calibri"/>
              </a:defRPr>
            </a:pPr>
            <a:r>
              <a:t>The Opportunity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If GLOSA is deployed on just 2 worst segments,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we save 35,416 CO₂ units (3.5% total).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1">
                <a:solidFill>
                  <a:srgbClr val="FFC107"/>
                </a:solidFill>
                <a:latin typeface="Calibri"/>
              </a:defRPr>
            </a:pPr>
            <a:r>
              <a:t>Scale to all 8 segments: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1">
                <a:solidFill>
                  <a:srgbClr val="00E676"/>
                </a:solidFill>
                <a:latin typeface="Calibri"/>
              </a:defRPr>
            </a:pPr>
            <a:r>
              <a:t>Estimated 10-15% total CO₂ reduction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00D2A8"/>
                </a:solidFill>
                <a:latin typeface="Calibri"/>
              </a:defRPr>
            </a:pPr>
            <a:r>
              <a:t>without building a single new road.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D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45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Data Visualized: Core Traffic Patterns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2743200" cy="27432"/>
          </a:xfrm>
          <a:prstGeom prst="rect">
            <a:avLst/>
          </a:prstGeom>
          <a:solidFill>
            <a:srgbClr val="45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_peak_hou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640080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48640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Insights → A huge spike in vehicle count exactly at 18:00 (6 PM) marks the clear evening rush hour. Deployment of adaptive signals should be prioritized between 16:00 and 20:00.</a:t>
            </a:r>
          </a:p>
        </p:txBody>
      </p:sp>
      <p:pic>
        <p:nvPicPr>
          <p:cNvPr id="7" name="Picture 6" descr="2_speed_se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645920"/>
            <a:ext cx="6400800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0" y="548640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Insights → Segment A1 exhibits the lowest network average speed. The infrastructure on this road fails to sustain flow capacity during high-demand bursts.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45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Data Visualized: Efficiency &amp; Emissions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2743200" cy="27432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3_co2_co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640080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48640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Insights → Linear positive correlation between congestion states and CO2 emissions. Combating congestion directly translates to heavy pollution reduction.</a:t>
            </a:r>
          </a:p>
        </p:txBody>
      </p:sp>
      <p:pic>
        <p:nvPicPr>
          <p:cNvPr id="7" name="Picture 6" descr="4_tei_ra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645920"/>
            <a:ext cx="6400800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0" y="548640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Insights → Traffic Efficiency Index (Speed/Density) reveals that C1 has the absolute worst operational efficiency, while D2 manages traffic the best.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Data Visualized: Future Simulations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2743200" cy="27432"/>
          </a:xfrm>
          <a:prstGeom prst="rect">
            <a:avLst/>
          </a:prstGeom>
          <a:solidFill>
            <a:srgbClr val="00D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6_ev_s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640080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48640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Insights → Simulating rapid EV adoption demonstrates that pushing the fleet to 50% EV immediately slashes network-wide CO2 levels by nearly 43%.</a:t>
            </a:r>
          </a:p>
        </p:txBody>
      </p:sp>
      <p:pic>
        <p:nvPicPr>
          <p:cNvPr id="7" name="Picture 6" descr="5_glos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645920"/>
            <a:ext cx="6400800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0" y="548640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Insights → Applying GLOSA to the worst bottlenecks (A1 &amp; C1) visibly crushes CO2 spikes, preventing the stop-and-go shockwaves responsible for idle emissions.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D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