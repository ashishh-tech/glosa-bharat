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0" b="1">
                <a:solidFill>
                  <a:srgbClr val="FFFFFF"/>
                </a:solidFill>
              </a:rPr>
              <a:t>GLOSA-BHARAT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657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60A5FA"/>
                </a:solidFill>
              </a:rPr>
              <a:t>Intelligent Traffic Flow Optimization for Indian Smart Cities</a:t>
            </a:r>
            <a:br/>
            <a:r>
              <a:t>AI for Atmanirbhar Bharat Initiative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457200"/>
            <a:ext cx="10515600" cy="731520"/>
          </a:xfrm>
          <a:prstGeom prst="rect">
            <a:avLst/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60A5FA"/>
                </a:solidFill>
              </a:rPr>
              <a:t>THE CHALLENGE: URBAN GRIDLOCK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</a:pPr>
            <a:r>
              <a:rPr sz="2400">
                <a:solidFill>
                  <a:srgbClr val="CBD5E1"/>
                </a:solidFill>
              </a:rPr>
              <a:t>• Congestion costs India ₹2.4 Lakh Crore annually.</a:t>
            </a:r>
          </a:p>
          <a:p>
            <a:pPr>
              <a:spcAft>
                <a:spcPts val="1500"/>
              </a:spcAft>
            </a:pPr>
            <a:r>
              <a:rPr sz="2400">
                <a:solidFill>
                  <a:srgbClr val="CBD5E1"/>
                </a:solidFill>
              </a:rPr>
              <a:t>• Massive fuel wastage and CO2 emissions from idling.</a:t>
            </a:r>
          </a:p>
          <a:p>
            <a:pPr>
              <a:spcAft>
                <a:spcPts val="1500"/>
              </a:spcAft>
            </a:pPr>
            <a:r>
              <a:rPr sz="2400">
                <a:solidFill>
                  <a:srgbClr val="CBD5E1"/>
                </a:solidFill>
              </a:rPr>
              <a:t>• Conventional traffic signals are dynamic-blind (fixed timers).</a:t>
            </a:r>
          </a:p>
          <a:p>
            <a:pPr>
              <a:spcAft>
                <a:spcPts val="1500"/>
              </a:spcAft>
            </a:pPr>
            <a:r>
              <a:rPr sz="2400">
                <a:solidFill>
                  <a:srgbClr val="CBD5E1"/>
                </a:solidFill>
              </a:rPr>
              <a:t>• Need for an indigenous, AI-driven traffic sync protocol.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457200"/>
            <a:ext cx="10515600" cy="731520"/>
          </a:xfrm>
          <a:prstGeom prst="rect">
            <a:avLst/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60A5FA"/>
                </a:solidFill>
              </a:rPr>
              <a:t>OUR SOLUTION: GLOSA-BHARAT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</a:pPr>
            <a:r>
              <a:rPr sz="2400">
                <a:solidFill>
                  <a:srgbClr val="CBD5E1"/>
                </a:solidFill>
              </a:rPr>
              <a:t>• Green Light Optimal Speed Advisory (GLOSA).</a:t>
            </a:r>
          </a:p>
          <a:p>
            <a:pPr>
              <a:spcAft>
                <a:spcPts val="1500"/>
              </a:spcAft>
            </a:pPr>
            <a:r>
              <a:rPr sz="2400">
                <a:solidFill>
                  <a:srgbClr val="CBD5E1"/>
                </a:solidFill>
              </a:rPr>
              <a:t>• AI analyzes real-time junction density &amp; signal state.</a:t>
            </a:r>
          </a:p>
          <a:p>
            <a:pPr>
              <a:spcAft>
                <a:spcPts val="1500"/>
              </a:spcAft>
            </a:pPr>
            <a:r>
              <a:rPr sz="2400">
                <a:solidFill>
                  <a:srgbClr val="CBD5E1"/>
                </a:solidFill>
              </a:rPr>
              <a:t>• Advises drivers on the 'Perfect Speed' to catch the green light.</a:t>
            </a:r>
          </a:p>
          <a:p>
            <a:pPr>
              <a:spcAft>
                <a:spcPts val="1500"/>
              </a:spcAft>
            </a:pPr>
            <a:r>
              <a:rPr sz="2400">
                <a:solidFill>
                  <a:srgbClr val="CBD5E1"/>
                </a:solidFill>
              </a:rPr>
              <a:t>• Eliminates 'Stop-and-Go' behavior for smoother mobility.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457200"/>
            <a:ext cx="10515600" cy="731520"/>
          </a:xfrm>
          <a:prstGeom prst="rect">
            <a:avLst/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60A5FA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</a:pPr>
            <a:r>
              <a:rPr sz="2400">
                <a:solidFill>
                  <a:srgbClr val="CBD5E1"/>
                </a:solidFill>
              </a:rPr>
              <a:t>• PERCEPTION: YOLOv8 vehicle detection &amp; Queue length analysis.</a:t>
            </a:r>
          </a:p>
          <a:p>
            <a:pPr>
              <a:spcAft>
                <a:spcPts val="1500"/>
              </a:spcAft>
            </a:pPr>
            <a:r>
              <a:rPr sz="2400">
                <a:solidFill>
                  <a:srgbClr val="CBD5E1"/>
                </a:solidFill>
              </a:rPr>
              <a:t>• BRAIN: Node.js coordination engine for signal-vehicle telemetry.</a:t>
            </a:r>
          </a:p>
          <a:p>
            <a:pPr>
              <a:spcAft>
                <a:spcPts val="1500"/>
              </a:spcAft>
            </a:pPr>
            <a:r>
              <a:rPr sz="2400">
                <a:solidFill>
                  <a:srgbClr val="CBD5E1"/>
                </a:solidFill>
              </a:rPr>
              <a:t>• INTERFACE: Real-time React dashboard with Leaflet GIS mapping.</a:t>
            </a:r>
          </a:p>
          <a:p>
            <a:pPr>
              <a:spcAft>
                <a:spcPts val="1500"/>
              </a:spcAft>
            </a:pPr>
            <a:r>
              <a:rPr sz="2400">
                <a:solidFill>
                  <a:srgbClr val="CBD5E1"/>
                </a:solidFill>
              </a:rPr>
              <a:t>• EDGE: V2I synchronization with sub-second latency.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457200"/>
            <a:ext cx="10515600" cy="731520"/>
          </a:xfrm>
          <a:prstGeom prst="rect">
            <a:avLst/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60A5FA"/>
                </a:solidFill>
              </a:rPr>
              <a:t>THE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</a:pPr>
            <a:r>
              <a:rPr sz="2400">
                <a:solidFill>
                  <a:srgbClr val="CBD5E1"/>
                </a:solidFill>
              </a:rPr>
              <a:t>• AI/Vision: Python, OpenCV, Darknet YOLO.</a:t>
            </a:r>
          </a:p>
          <a:p>
            <a:pPr>
              <a:spcAft>
                <a:spcPts val="1500"/>
              </a:spcAft>
            </a:pPr>
            <a:r>
              <a:rPr sz="2400">
                <a:solidFill>
                  <a:srgbClr val="CBD5E1"/>
                </a:solidFill>
              </a:rPr>
              <a:t>• Core Backend: Node.js, Express, Axios.</a:t>
            </a:r>
          </a:p>
          <a:p>
            <a:pPr>
              <a:spcAft>
                <a:spcPts val="1500"/>
              </a:spcAft>
            </a:pPr>
            <a:r>
              <a:rPr sz="2400">
                <a:solidFill>
                  <a:srgbClr val="CBD5E1"/>
                </a:solidFill>
              </a:rPr>
              <a:t>• Modern Frontend: React.js, Tailwind CSS, Framer Motion.</a:t>
            </a:r>
          </a:p>
          <a:p>
            <a:pPr>
              <a:spcAft>
                <a:spcPts val="1500"/>
              </a:spcAft>
            </a:pPr>
            <a:r>
              <a:rPr sz="2400">
                <a:solidFill>
                  <a:srgbClr val="CBD5E1"/>
                </a:solidFill>
              </a:rPr>
              <a:t>• Data Flow: Real-time WebSockets for telemetry updates.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457200"/>
            <a:ext cx="10515600" cy="731520"/>
          </a:xfrm>
          <a:prstGeom prst="rect">
            <a:avLst/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60A5FA"/>
                </a:solidFill>
              </a:rPr>
              <a:t>INNOVATION FOR INDIAN ROADS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</a:pPr>
            <a:r>
              <a:rPr sz="2400">
                <a:solidFill>
                  <a:srgbClr val="CBD5E1"/>
                </a:solidFill>
              </a:rPr>
              <a:t>• MIXED TRAFFIC: Trained for bikes, autos, and large fleets.</a:t>
            </a:r>
          </a:p>
          <a:p>
            <a:pPr>
              <a:spcAft>
                <a:spcPts val="1500"/>
              </a:spcAft>
            </a:pPr>
            <a:r>
              <a:rPr sz="2400">
                <a:solidFill>
                  <a:srgbClr val="CBD5E1"/>
                </a:solidFill>
              </a:rPr>
              <a:t>• SCALABLE: Designed for quick rollout in Tier-2/3 cities.</a:t>
            </a:r>
          </a:p>
          <a:p>
            <a:pPr>
              <a:spcAft>
                <a:spcPts val="1500"/>
              </a:spcAft>
            </a:pPr>
            <a:r>
              <a:rPr sz="2400">
                <a:solidFill>
                  <a:srgbClr val="CBD5E1"/>
                </a:solidFill>
              </a:rPr>
              <a:t>• ATMANIRBHAR: 100% indigenous software stack.</a:t>
            </a:r>
          </a:p>
          <a:p>
            <a:pPr>
              <a:spcAft>
                <a:spcPts val="1500"/>
              </a:spcAft>
            </a:pPr>
            <a:r>
              <a:rPr sz="2400">
                <a:solidFill>
                  <a:srgbClr val="CBD5E1"/>
                </a:solidFill>
              </a:rPr>
              <a:t>• NO PROPRIETARY LOCK-IN: Built on open-source standards.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457200"/>
            <a:ext cx="10515600" cy="731520"/>
          </a:xfrm>
          <a:prstGeom prst="rect">
            <a:avLst/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60A5FA"/>
                </a:solidFill>
              </a:rPr>
              <a:t>IMPACT &amp; STRATEGIC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</a:pPr>
            <a:r>
              <a:rPr sz="2400">
                <a:solidFill>
                  <a:srgbClr val="CBD5E1"/>
                </a:solidFill>
              </a:rPr>
              <a:t>• ECONOMY: 15-20% reduction in delivery fleet fuel costs.</a:t>
            </a:r>
          </a:p>
          <a:p>
            <a:pPr>
              <a:spcAft>
                <a:spcPts val="1500"/>
              </a:spcAft>
            </a:pPr>
            <a:r>
              <a:rPr sz="2400">
                <a:solidFill>
                  <a:srgbClr val="CBD5E1"/>
                </a:solidFill>
              </a:rPr>
              <a:t>• ENVIRONMENT: Drastic drop in 'Cold Start' idling emissions.</a:t>
            </a:r>
          </a:p>
          <a:p>
            <a:pPr>
              <a:spcAft>
                <a:spcPts val="1500"/>
              </a:spcAft>
            </a:pPr>
            <a:r>
              <a:rPr sz="2400">
                <a:solidFill>
                  <a:srgbClr val="CBD5E1"/>
                </a:solidFill>
              </a:rPr>
              <a:t>• SOCIAL: Reduced driver stress and predictable arrival times.</a:t>
            </a:r>
          </a:p>
          <a:p>
            <a:pPr>
              <a:spcAft>
                <a:spcPts val="1500"/>
              </a:spcAft>
            </a:pPr>
            <a:r>
              <a:rPr sz="2400">
                <a:solidFill>
                  <a:srgbClr val="CBD5E1"/>
                </a:solidFill>
              </a:rPr>
              <a:t>• VISION: A smarter, self-reliant mobility infrastructure.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SMARTER CITIES. SELF-RELIANT INDIA.</a:t>
            </a:r>
          </a:p>
          <a:p>
            <a:pPr algn="ctr"/>
            <a:r>
              <a:rPr sz="2400">
                <a:solidFill>
                  <a:srgbClr val="60A5FA"/>
                </a:solidFill>
              </a:rPr>
              <a:t>THANK YOU |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